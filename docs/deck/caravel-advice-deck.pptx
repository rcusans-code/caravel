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s1::before"/>
          <p:cNvSpPr/>
          <p:nvPr/>
        </p:nvSpPr>
        <p:spPr>
          <a:xfrm>
            <a:off x="203200" y="203200"/>
            <a:ext cx="11772900" cy="6438900"/>
          </a:xfrm>
          <a:prstGeom prst="rect">
            <a:avLst/>
          </a:prstGeom>
          <a:noFill/>
          <a:ln w="6350">
            <a:solidFill>
              <a:srgbClr val="E6DCCB"/>
            </a:solidFill>
          </a:ln>
          <a:effectLst/>
        </p:spPr>
      </p:sp>
      <p:sp>
        <p:nvSpPr>
          <p:cNvPr id="3" name="h1"/>
          <p:cNvSpPr txBox="1"/>
          <p:nvPr/>
        </p:nvSpPr>
        <p:spPr>
          <a:xfrm>
            <a:off x="812800" y="535876"/>
            <a:ext cx="1007999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36">
                <a:solidFill>
                  <a:srgbClr val="2B211D"/>
                </a:solidFill>
                <a:latin typeface="EB Garamond"/>
              </a:rPr>
              <a:t>Caravel </a:t>
            </a:r>
            <a:r>
              <a:rPr sz="3600" b="0" i="0" spc="-36">
                <a:solidFill>
                  <a:srgbClr val="793327"/>
                </a:solidFill>
                <a:latin typeface="EB Garamond"/>
              </a:rPr>
              <a:t>Custodial</a:t>
            </a:r>
            <a:r>
              <a:rPr sz="3600" b="0" i="0" spc="-36">
                <a:solidFill>
                  <a:srgbClr val="2B211D"/>
                </a:solidFill>
                <a:latin typeface="EB Garamond"/>
              </a:rPr>
              <a:t> RWA Lending Platform on Stellar</a:t>
            </a:r>
            <a:endParaRPr sz="3600"/>
          </a:p>
        </p:txBody>
      </p:sp>
      <p:sp>
        <p:nvSpPr>
          <p:cNvPr id="4" name="p.sub"/>
          <p:cNvSpPr txBox="1"/>
          <p:nvPr/>
        </p:nvSpPr>
        <p:spPr>
          <a:xfrm>
            <a:off x="812800" y="1097344"/>
            <a:ext cx="271224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E6157"/>
                </a:solidFill>
                <a:latin typeface="Source Sans 3"/>
              </a:rPr>
              <a:t>Here for advice, not money.</a:t>
            </a:r>
            <a:endParaRPr sz="1700"/>
          </a:p>
        </p:txBody>
      </p:sp>
      <p:sp>
        <p:nvSpPr>
          <p:cNvPr id="5" name="div.dot coin"/>
          <p:cNvSpPr/>
          <p:nvPr/>
        </p:nvSpPr>
        <p:spPr>
          <a:xfrm>
            <a:off x="812800" y="1727200"/>
            <a:ext cx="1460500" cy="1460500"/>
          </a:xfrm>
          <a:prstGeom prst="ellipse">
            <a:avLst/>
          </a:prstGeom>
          <a:solidFill>
            <a:srgbClr val="F6EDC9"/>
          </a:solidFill>
          <a:ln w="25400">
            <a:solidFill>
              <a:srgbClr val="D6B43E"/>
            </a:solidFill>
          </a:ln>
          <a:effectLst/>
        </p:spPr>
      </p:sp>
      <p:sp>
        <p:nvSpPr>
          <p:cNvPr id="6" name="div.c.big"/>
          <p:cNvSpPr txBox="1"/>
          <p:nvPr/>
        </p:nvSpPr>
        <p:spPr>
          <a:xfrm>
            <a:off x="812800" y="2268220"/>
            <a:ext cx="1460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2B211D"/>
                </a:solidFill>
                <a:latin typeface="EB Garamond"/>
              </a:rPr>
              <a:t>SAFO</a:t>
            </a:r>
            <a:endParaRPr sz="2800"/>
          </a:p>
        </p:txBody>
      </p:sp>
      <p:sp>
        <p:nvSpPr>
          <p:cNvPr id="7" name="div.c.lbl"/>
          <p:cNvSpPr txBox="1"/>
          <p:nvPr/>
        </p:nvSpPr>
        <p:spPr>
          <a:xfrm>
            <a:off x="527050" y="3265234"/>
            <a:ext cx="2032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6157"/>
                </a:solidFill>
                <a:latin typeface="Source Sans 3"/>
              </a:rPr>
              <a:t>unusable?</a:t>
            </a:r>
            <a:endParaRPr sz="1300"/>
          </a:p>
        </p:txBody>
      </p:sp>
      <p:cxnSp>
        <p:nvCxnSpPr>
          <p:cNvPr id="8" name="wire"/>
          <p:cNvCxnSpPr/>
          <p:nvPr/>
        </p:nvCxnSpPr>
        <p:spPr>
          <a:xfrm>
            <a:off x="2273300" y="2457450"/>
            <a:ext cx="3441700" cy="0"/>
          </a:xfrm>
          <a:prstGeom prst="line">
            <a:avLst/>
          </a:prstGeom>
          <a:ln w="15875">
            <a:solidFill>
              <a:srgbClr val="9C8A70"/>
            </a:solidFill>
            <a:prstDash val="dash"/>
          </a:ln>
        </p:spPr>
      </p:cxnSp>
      <p:sp>
        <p:nvSpPr>
          <p:cNvPr id="9" name="div.box gold"/>
          <p:cNvSpPr/>
          <p:nvPr/>
        </p:nvSpPr>
        <p:spPr>
          <a:xfrm>
            <a:off x="5715000" y="2076450"/>
            <a:ext cx="762000" cy="762000"/>
          </a:xfrm>
          <a:prstGeom prst="rect">
            <a:avLst/>
          </a:prstGeom>
          <a:solidFill>
            <a:srgbClr val="F6EDC9"/>
          </a:solidFill>
          <a:ln w="19050">
            <a:solidFill>
              <a:srgbClr val="D6B43E"/>
            </a:solidFill>
          </a:ln>
          <a:effectLst/>
        </p:spPr>
      </p:sp>
      <p:sp>
        <p:nvSpPr>
          <p:cNvPr id="10" name="box gold::after:borderRight"/>
          <p:cNvSpPr/>
          <p:nvPr/>
        </p:nvSpPr>
        <p:spPr>
          <a:xfrm>
            <a:off x="6489700" y="2133600"/>
            <a:ext cx="6350" cy="72390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11" name="box gold::after:borderBottom"/>
          <p:cNvSpPr/>
          <p:nvPr/>
        </p:nvSpPr>
        <p:spPr>
          <a:xfrm>
            <a:off x="5772150" y="2851150"/>
            <a:ext cx="723900" cy="635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12" name="div.c.qm"/>
          <p:cNvSpPr txBox="1"/>
          <p:nvPr/>
        </p:nvSpPr>
        <p:spPr>
          <a:xfrm>
            <a:off x="5715000" y="2148713"/>
            <a:ext cx="7620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7A6418"/>
                </a:solidFill>
                <a:latin typeface="EB Garamond"/>
              </a:rPr>
              <a:t>?</a:t>
            </a:r>
            <a:endParaRPr sz="4600"/>
          </a:p>
        </p:txBody>
      </p:sp>
      <p:sp>
        <p:nvSpPr>
          <p:cNvPr id="13" name="div.c.lbl"/>
          <p:cNvSpPr txBox="1"/>
          <p:nvPr/>
        </p:nvSpPr>
        <p:spPr>
          <a:xfrm>
            <a:off x="4826000" y="1766697"/>
            <a:ext cx="2540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6157"/>
                </a:solidFill>
                <a:latin typeface="Source Sans 3"/>
              </a:rPr>
              <a:t>not connected?</a:t>
            </a:r>
            <a:endParaRPr sz="1300"/>
          </a:p>
        </p:txBody>
      </p:sp>
      <p:cxnSp>
        <p:nvCxnSpPr>
          <p:cNvPr id="14" name="wire"/>
          <p:cNvCxnSpPr/>
          <p:nvPr/>
        </p:nvCxnSpPr>
        <p:spPr>
          <a:xfrm flipV="1">
            <a:off x="6489700" y="2095500"/>
            <a:ext cx="2717800" cy="285750"/>
          </a:xfrm>
          <a:prstGeom prst="line">
            <a:avLst/>
          </a:prstGeom>
          <a:ln w="15875">
            <a:solidFill>
              <a:srgbClr val="9C8A70"/>
            </a:solidFill>
            <a:prstDash val="dash"/>
            <a:tailEnd type="triangle" w="med" len="med"/>
          </a:ln>
        </p:spPr>
      </p:cxnSp>
      <p:cxnSp>
        <p:nvCxnSpPr>
          <p:cNvPr id="15" name="wire"/>
          <p:cNvCxnSpPr/>
          <p:nvPr/>
        </p:nvCxnSpPr>
        <p:spPr>
          <a:xfrm>
            <a:off x="6489700" y="2533650"/>
            <a:ext cx="2717800" cy="298450"/>
          </a:xfrm>
          <a:prstGeom prst="line">
            <a:avLst/>
          </a:prstGeom>
          <a:ln w="15875">
            <a:solidFill>
              <a:srgbClr val="9C8A70"/>
            </a:solidFill>
            <a:prstDash val="dash"/>
            <a:tailEnd type="triangle" w="med" len="med"/>
          </a:ln>
        </p:spPr>
      </p:cxnSp>
      <p:sp>
        <p:nvSpPr>
          <p:cNvPr id="16" name="div.box"/>
          <p:cNvSpPr/>
          <p:nvPr/>
        </p:nvSpPr>
        <p:spPr>
          <a:xfrm>
            <a:off x="9220200" y="1790700"/>
            <a:ext cx="2159000" cy="6096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17" name="p.bt"/>
          <p:cNvSpPr txBox="1"/>
          <p:nvPr/>
        </p:nvSpPr>
        <p:spPr>
          <a:xfrm>
            <a:off x="9226550" y="1953450"/>
            <a:ext cx="21463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211D"/>
                </a:solidFill>
                <a:latin typeface="EB Garamond"/>
              </a:rPr>
              <a:t>Borrow</a:t>
            </a:r>
            <a:endParaRPr sz="1900"/>
          </a:p>
        </p:txBody>
      </p:sp>
      <p:sp>
        <p:nvSpPr>
          <p:cNvPr id="18" name="box::after:borderRight"/>
          <p:cNvSpPr/>
          <p:nvPr/>
        </p:nvSpPr>
        <p:spPr>
          <a:xfrm>
            <a:off x="11404600" y="1835150"/>
            <a:ext cx="6350" cy="5969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9" name="box::after:borderBottom"/>
          <p:cNvSpPr/>
          <p:nvPr/>
        </p:nvSpPr>
        <p:spPr>
          <a:xfrm>
            <a:off x="9264650" y="2425700"/>
            <a:ext cx="2146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0" name="div.box"/>
          <p:cNvSpPr/>
          <p:nvPr/>
        </p:nvSpPr>
        <p:spPr>
          <a:xfrm>
            <a:off x="9220200" y="2527300"/>
            <a:ext cx="2159000" cy="6096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21" name="p.bt"/>
          <p:cNvSpPr txBox="1"/>
          <p:nvPr/>
        </p:nvSpPr>
        <p:spPr>
          <a:xfrm>
            <a:off x="9226550" y="2689733"/>
            <a:ext cx="21463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211D"/>
                </a:solidFill>
                <a:latin typeface="EB Garamond"/>
              </a:rPr>
              <a:t>Earn</a:t>
            </a:r>
            <a:endParaRPr sz="1900"/>
          </a:p>
        </p:txBody>
      </p:sp>
      <p:sp>
        <p:nvSpPr>
          <p:cNvPr id="22" name="box::after:borderRight"/>
          <p:cNvSpPr/>
          <p:nvPr/>
        </p:nvSpPr>
        <p:spPr>
          <a:xfrm>
            <a:off x="11404600" y="2571750"/>
            <a:ext cx="6350" cy="5969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3" name="box::after:borderBottom"/>
          <p:cNvSpPr/>
          <p:nvPr/>
        </p:nvSpPr>
        <p:spPr>
          <a:xfrm>
            <a:off x="9264650" y="3162300"/>
            <a:ext cx="2146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4" name="div.q"/>
          <p:cNvSpPr/>
          <p:nvPr/>
        </p:nvSpPr>
        <p:spPr>
          <a:xfrm>
            <a:off x="812800" y="3810000"/>
            <a:ext cx="10566400" cy="609600"/>
          </a:xfrm>
          <a:prstGeom prst="rect">
            <a:avLst/>
          </a:prstGeom>
          <a:solidFill>
            <a:srgbClr val="F6EDC9"/>
          </a:solidFill>
          <a:ln w="12700">
            <a:solidFill>
              <a:srgbClr val="7A6418"/>
            </a:solidFill>
          </a:ln>
          <a:effectLst/>
        </p:spPr>
      </p:sp>
      <p:sp>
        <p:nvSpPr>
          <p:cNvPr id="25" name="div.t"/>
          <p:cNvSpPr txBox="1"/>
          <p:nvPr/>
        </p:nvSpPr>
        <p:spPr>
          <a:xfrm>
            <a:off x="1079500" y="3952367"/>
            <a:ext cx="7238198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11D"/>
                </a:solidFill>
                <a:latin typeface="EB Garamond"/>
              </a:rPr>
              <a:t>Does anyone actually use SAFO to borrow or earn? Is there a gap?</a:t>
            </a:r>
            <a:endParaRPr sz="2100"/>
          </a:p>
        </p:txBody>
      </p:sp>
      <p:sp>
        <p:nvSpPr>
          <p:cNvPr id="26" name="div.band-rule"/>
          <p:cNvSpPr/>
          <p:nvPr/>
        </p:nvSpPr>
        <p:spPr>
          <a:xfrm>
            <a:off x="812800" y="4762500"/>
            <a:ext cx="105664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7" name="div.cap"/>
          <p:cNvSpPr txBox="1"/>
          <p:nvPr/>
        </p:nvSpPr>
        <p:spPr>
          <a:xfrm>
            <a:off x="812800" y="4881753"/>
            <a:ext cx="295387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OUR BACKTEST · DAILY ENTRIES IN PROFIT</a:t>
            </a:r>
            <a:endParaRPr sz="950"/>
          </a:p>
        </p:txBody>
      </p:sp>
      <p:sp>
        <p:nvSpPr>
          <p:cNvPr id="28" name="div.rl"/>
          <p:cNvSpPr txBox="1"/>
          <p:nvPr/>
        </p:nvSpPr>
        <p:spPr>
          <a:xfrm>
            <a:off x="812800" y="5170106"/>
            <a:ext cx="777855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157"/>
                </a:solidFill>
                <a:latin typeface="Source Sans 3"/>
              </a:rPr>
              <a:t>EUR carry</a:t>
            </a:r>
            <a:endParaRPr sz="1300"/>
          </a:p>
        </p:txBody>
      </p:sp>
      <p:sp>
        <p:nvSpPr>
          <p:cNvPr id="29" name="div.track"/>
          <p:cNvSpPr/>
          <p:nvPr/>
        </p:nvSpPr>
        <p:spPr>
          <a:xfrm>
            <a:off x="2159000" y="5207000"/>
            <a:ext cx="3810000" cy="190500"/>
          </a:xfrm>
          <a:prstGeom prst="rect">
            <a:avLst/>
          </a:prstGeom>
          <a:solidFill>
            <a:srgbClr val="E6DCCB"/>
          </a:solidFill>
          <a:ln>
            <a:noFill/>
          </a:ln>
          <a:effectLst/>
        </p:spPr>
      </p:sp>
      <p:sp>
        <p:nvSpPr>
          <p:cNvPr id="30" name="div.bar"/>
          <p:cNvSpPr/>
          <p:nvPr/>
        </p:nvSpPr>
        <p:spPr>
          <a:xfrm>
            <a:off x="2159000" y="5207000"/>
            <a:ext cx="3790950" cy="190500"/>
          </a:xfrm>
          <a:prstGeom prst="rect">
            <a:avLst/>
          </a:prstGeom>
          <a:solidFill>
            <a:srgbClr val="46683F"/>
          </a:solidFill>
          <a:ln>
            <a:noFill/>
          </a:ln>
          <a:effectLst/>
        </p:spPr>
      </p:sp>
      <p:sp>
        <p:nvSpPr>
          <p:cNvPr id="31" name="div.mv"/>
          <p:cNvSpPr txBox="1"/>
          <p:nvPr/>
        </p:nvSpPr>
        <p:spPr>
          <a:xfrm>
            <a:off x="6159500" y="5185283"/>
            <a:ext cx="857365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11D"/>
                </a:solidFill>
                <a:latin typeface="Source Code Pro"/>
              </a:rPr>
              <a:t>99–100%</a:t>
            </a:r>
            <a:endParaRPr sz="1400"/>
          </a:p>
        </p:txBody>
      </p:sp>
      <p:sp>
        <p:nvSpPr>
          <p:cNvPr id="32" name="div.mn"/>
          <p:cNvSpPr txBox="1"/>
          <p:nvPr/>
        </p:nvSpPr>
        <p:spPr>
          <a:xfrm>
            <a:off x="7493000" y="5158676"/>
            <a:ext cx="1309564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6D60"/>
                </a:solidFill>
                <a:latin typeface="Source Sans 3"/>
              </a:rPr>
              <a:t>7–9.5%/yr on equity</a:t>
            </a:r>
            <a:endParaRPr sz="1100"/>
          </a:p>
        </p:txBody>
      </p:sp>
      <p:sp>
        <p:nvSpPr>
          <p:cNvPr id="33" name="div.rl"/>
          <p:cNvSpPr txBox="1"/>
          <p:nvPr/>
        </p:nvSpPr>
        <p:spPr>
          <a:xfrm>
            <a:off x="812800" y="5525960"/>
            <a:ext cx="785463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157"/>
                </a:solidFill>
                <a:latin typeface="Source Sans 3"/>
              </a:rPr>
              <a:t>USD carry</a:t>
            </a:r>
            <a:endParaRPr sz="1300"/>
          </a:p>
        </p:txBody>
      </p:sp>
      <p:sp>
        <p:nvSpPr>
          <p:cNvPr id="34" name="div.track"/>
          <p:cNvSpPr/>
          <p:nvPr/>
        </p:nvSpPr>
        <p:spPr>
          <a:xfrm>
            <a:off x="2159000" y="5562600"/>
            <a:ext cx="3810000" cy="190500"/>
          </a:xfrm>
          <a:prstGeom prst="rect">
            <a:avLst/>
          </a:prstGeom>
          <a:solidFill>
            <a:srgbClr val="E6DCCB"/>
          </a:solidFill>
          <a:ln>
            <a:noFill/>
          </a:ln>
          <a:effectLst/>
        </p:spPr>
      </p:sp>
      <p:sp>
        <p:nvSpPr>
          <p:cNvPr id="35" name="div.bar"/>
          <p:cNvSpPr/>
          <p:nvPr/>
        </p:nvSpPr>
        <p:spPr>
          <a:xfrm>
            <a:off x="2159000" y="5562600"/>
            <a:ext cx="95250" cy="1905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36" name="div.mv"/>
          <p:cNvSpPr txBox="1"/>
          <p:nvPr/>
        </p:nvSpPr>
        <p:spPr>
          <a:xfrm>
            <a:off x="6159500" y="5541200"/>
            <a:ext cx="742172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11D"/>
                </a:solidFill>
                <a:latin typeface="Source Code Pro"/>
              </a:rPr>
              <a:t>0–2.5%</a:t>
            </a:r>
            <a:endParaRPr sz="1400"/>
          </a:p>
        </p:txBody>
      </p:sp>
      <p:sp>
        <p:nvSpPr>
          <p:cNvPr id="37" name="div.mn"/>
          <p:cNvSpPr txBox="1"/>
          <p:nvPr/>
        </p:nvSpPr>
        <p:spPr>
          <a:xfrm>
            <a:off x="7493000" y="5514213"/>
            <a:ext cx="1738832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6D60"/>
                </a:solidFill>
                <a:latin typeface="Source Sans 3"/>
              </a:rPr>
              <a:t>86–100% only if subsidised</a:t>
            </a:r>
            <a:endParaRPr sz="1100"/>
          </a:p>
        </p:txBody>
      </p:sp>
      <p:sp>
        <p:nvSpPr>
          <p:cNvPr id="38" name="div.src"/>
          <p:cNvSpPr txBox="1"/>
          <p:nvPr/>
        </p:nvSpPr>
        <p:spPr>
          <a:xfrm>
            <a:off x="812800" y="6402006"/>
            <a:ext cx="7045531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6157"/>
                </a:solidFill>
                <a:latin typeface="Source Sans 3"/>
              </a:rPr>
              <a:t>Backtest, small size: daily entries Jun 2024–Oct 2026. EUR: Morpho live market, equity at 88% LTV (Caravel 70%: ~4.9%). USD: market rates; subsidy 3.33%.</a:t>
            </a:r>
            <a:endParaRPr sz="800"/>
          </a:p>
        </p:txBody>
      </p:sp>
      <p:pic>
        <p:nvPicPr>
          <p:cNvPr id="39" name="caravel-mark" descr="caravel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231" y="6324600"/>
            <a:ext cx="298549" cy="215900"/>
          </a:xfrm>
          <a:prstGeom prst="rect">
            <a:avLst/>
          </a:prstGeom>
        </p:spPr>
      </p:pic>
      <p:sp>
        <p:nvSpPr>
          <p:cNvPr id="40" name="div.pg"/>
          <p:cNvSpPr txBox="1"/>
          <p:nvPr/>
        </p:nvSpPr>
        <p:spPr>
          <a:xfrm>
            <a:off x="10899080" y="6365938"/>
            <a:ext cx="569329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157"/>
                </a:solidFill>
                <a:latin typeface="Source Code Pro"/>
              </a:rPr>
              <a:t>01 / 04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s2::before"/>
          <p:cNvSpPr/>
          <p:nvPr/>
        </p:nvSpPr>
        <p:spPr>
          <a:xfrm>
            <a:off x="203200" y="203200"/>
            <a:ext cx="11772900" cy="6438900"/>
          </a:xfrm>
          <a:prstGeom prst="rect">
            <a:avLst/>
          </a:prstGeom>
          <a:noFill/>
          <a:ln w="6350">
            <a:solidFill>
              <a:srgbClr val="E6DCCB"/>
            </a:solidFill>
          </a:ln>
          <a:effectLst/>
        </p:spPr>
      </p:sp>
      <p:sp>
        <p:nvSpPr>
          <p:cNvPr id="3" name="h1"/>
          <p:cNvSpPr txBox="1"/>
          <p:nvPr/>
        </p:nvSpPr>
        <p:spPr>
          <a:xfrm>
            <a:off x="812800" y="535876"/>
            <a:ext cx="1007999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36">
                <a:solidFill>
                  <a:srgbClr val="2B211D"/>
                </a:solidFill>
                <a:latin typeface="EB Garamond"/>
              </a:rPr>
              <a:t>One whitelisted contract bridges crypto and RWA</a:t>
            </a:r>
            <a:endParaRPr sz="3600"/>
          </a:p>
        </p:txBody>
      </p:sp>
      <p:sp>
        <p:nvSpPr>
          <p:cNvPr id="4" name="div.zone l"/>
          <p:cNvSpPr/>
          <p:nvPr/>
        </p:nvSpPr>
        <p:spPr>
          <a:xfrm>
            <a:off x="812800" y="1333500"/>
            <a:ext cx="5283200" cy="3746500"/>
          </a:xfrm>
          <a:prstGeom prst="rect">
            <a:avLst/>
          </a:prstGeom>
          <a:solidFill>
            <a:srgbClr val="E3EAEC"/>
          </a:solidFill>
          <a:ln>
            <a:noFill/>
          </a:ln>
          <a:effectLst/>
        </p:spPr>
      </p:sp>
      <p:sp>
        <p:nvSpPr>
          <p:cNvPr id="5" name="div.zone r"/>
          <p:cNvSpPr/>
          <p:nvPr/>
        </p:nvSpPr>
        <p:spPr>
          <a:xfrm>
            <a:off x="6096000" y="1333500"/>
            <a:ext cx="5283200" cy="37465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</p:sp>
      <p:sp>
        <p:nvSpPr>
          <p:cNvPr id="6" name="div.cap"/>
          <p:cNvSpPr txBox="1"/>
          <p:nvPr/>
        </p:nvSpPr>
        <p:spPr>
          <a:xfrm>
            <a:off x="1016000" y="1452753"/>
            <a:ext cx="109225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547076"/>
                </a:solidFill>
                <a:latin typeface="Source Sans 3"/>
              </a:rPr>
              <a:t>CRYPTO · OPEN</a:t>
            </a:r>
            <a:endParaRPr sz="950"/>
          </a:p>
        </p:txBody>
      </p:sp>
      <p:sp>
        <p:nvSpPr>
          <p:cNvPr id="7" name="div.cap"/>
          <p:cNvSpPr txBox="1"/>
          <p:nvPr/>
        </p:nvSpPr>
        <p:spPr>
          <a:xfrm>
            <a:off x="6299200" y="1452753"/>
            <a:ext cx="1404291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RWA · WHITELISTED</a:t>
            </a:r>
            <a:endParaRPr sz="950"/>
          </a:p>
        </p:txBody>
      </p:sp>
      <p:sp>
        <p:nvSpPr>
          <p:cNvPr id="8" name="div.box"/>
          <p:cNvSpPr/>
          <p:nvPr/>
        </p:nvSpPr>
        <p:spPr>
          <a:xfrm>
            <a:off x="1397000" y="2870200"/>
            <a:ext cx="2032000" cy="66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9" name="p.bt"/>
          <p:cNvSpPr txBox="1"/>
          <p:nvPr/>
        </p:nvSpPr>
        <p:spPr>
          <a:xfrm>
            <a:off x="1403350" y="3058096"/>
            <a:ext cx="20193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211D"/>
                </a:solidFill>
                <a:latin typeface="EB Garamond"/>
              </a:rPr>
              <a:t>USDC lenders</a:t>
            </a:r>
            <a:endParaRPr sz="1900"/>
          </a:p>
        </p:txBody>
      </p:sp>
      <p:sp>
        <p:nvSpPr>
          <p:cNvPr id="10" name="box::after:borderRight"/>
          <p:cNvSpPr/>
          <p:nvPr/>
        </p:nvSpPr>
        <p:spPr>
          <a:xfrm>
            <a:off x="3454400" y="2914650"/>
            <a:ext cx="6350" cy="647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1" name="box::after:borderBottom"/>
          <p:cNvSpPr/>
          <p:nvPr/>
        </p:nvSpPr>
        <p:spPr>
          <a:xfrm>
            <a:off x="1441450" y="3556000"/>
            <a:ext cx="2019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2" name="div.c.lbl"/>
          <p:cNvSpPr txBox="1"/>
          <p:nvPr/>
        </p:nvSpPr>
        <p:spPr>
          <a:xfrm>
            <a:off x="1397000" y="3646360"/>
            <a:ext cx="2032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6157"/>
                </a:solidFill>
                <a:latin typeface="Source Sans 3"/>
              </a:rPr>
              <a:t>never hold shares</a:t>
            </a:r>
            <a:endParaRPr sz="1300"/>
          </a:p>
        </p:txBody>
      </p:sp>
      <p:sp>
        <p:nvSpPr>
          <p:cNvPr id="13" name="div.box gold"/>
          <p:cNvSpPr/>
          <p:nvPr/>
        </p:nvSpPr>
        <p:spPr>
          <a:xfrm>
            <a:off x="5143500" y="2413000"/>
            <a:ext cx="1905000" cy="22860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14" name="box gold::after:borderRight"/>
          <p:cNvSpPr/>
          <p:nvPr/>
        </p:nvSpPr>
        <p:spPr>
          <a:xfrm>
            <a:off x="7073900" y="2457450"/>
            <a:ext cx="6350" cy="227330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15" name="box gold::after:borderBottom"/>
          <p:cNvSpPr/>
          <p:nvPr/>
        </p:nvSpPr>
        <p:spPr>
          <a:xfrm>
            <a:off x="5187950" y="4724400"/>
            <a:ext cx="1892300" cy="635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16" name="div.dot lk-s"/>
          <p:cNvSpPr/>
          <p:nvPr/>
        </p:nvSpPr>
        <p:spPr>
          <a:xfrm>
            <a:off x="5956300" y="2832100"/>
            <a:ext cx="279400" cy="317500"/>
          </a:xfrm>
          <a:prstGeom prst="ellipse">
            <a:avLst/>
          </a:prstGeom>
          <a:noFill/>
          <a:ln w="44450">
            <a:solidFill>
              <a:srgbClr val="7A6418"/>
            </a:solidFill>
          </a:ln>
          <a:effectLst/>
        </p:spPr>
      </p:sp>
      <p:sp>
        <p:nvSpPr>
          <p:cNvPr id="17" name="div.lk-b"/>
          <p:cNvSpPr/>
          <p:nvPr/>
        </p:nvSpPr>
        <p:spPr>
          <a:xfrm>
            <a:off x="5899150" y="2997200"/>
            <a:ext cx="393700" cy="292100"/>
          </a:xfrm>
          <a:prstGeom prst="rect">
            <a:avLst/>
          </a:prstGeom>
          <a:solidFill>
            <a:srgbClr val="7A6418"/>
          </a:solidFill>
          <a:ln>
            <a:noFill/>
          </a:ln>
          <a:effectLst/>
        </p:spPr>
      </p:sp>
      <p:sp>
        <p:nvSpPr>
          <p:cNvPr id="18" name="div.c.big"/>
          <p:cNvSpPr txBox="1"/>
          <p:nvPr/>
        </p:nvSpPr>
        <p:spPr>
          <a:xfrm>
            <a:off x="5143500" y="3383280"/>
            <a:ext cx="1905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B211D"/>
                </a:solidFill>
                <a:latin typeface="EB Garamond"/>
              </a:rPr>
              <a:t>Caravel</a:t>
            </a:r>
            <a:endParaRPr sz="2200"/>
          </a:p>
        </p:txBody>
      </p:sp>
      <p:sp>
        <p:nvSpPr>
          <p:cNvPr id="19" name="div.c.big"/>
          <p:cNvSpPr txBox="1"/>
          <p:nvPr/>
        </p:nvSpPr>
        <p:spPr>
          <a:xfrm>
            <a:off x="5143500" y="3700780"/>
            <a:ext cx="1905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B211D"/>
                </a:solidFill>
                <a:latin typeface="EB Garamond"/>
              </a:rPr>
              <a:t>contract</a:t>
            </a:r>
            <a:endParaRPr sz="2200"/>
          </a:p>
        </p:txBody>
      </p:sp>
      <p:sp>
        <p:nvSpPr>
          <p:cNvPr id="20" name="div.c"/>
          <p:cNvSpPr txBox="1"/>
          <p:nvPr/>
        </p:nvSpPr>
        <p:spPr>
          <a:xfrm>
            <a:off x="5143500" y="4117467"/>
            <a:ext cx="19050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8">
                <a:solidFill>
                  <a:srgbClr val="7A6418"/>
                </a:solidFill>
                <a:latin typeface="Source Sans 3"/>
              </a:rPr>
              <a:t>WHITELISTED</a:t>
            </a:r>
            <a:endParaRPr sz="1100"/>
          </a:p>
        </p:txBody>
      </p:sp>
      <p:cxnSp>
        <p:nvCxnSpPr>
          <p:cNvPr id="21" name="wire"/>
          <p:cNvCxnSpPr/>
          <p:nvPr/>
        </p:nvCxnSpPr>
        <p:spPr>
          <a:xfrm>
            <a:off x="6096000" y="1333500"/>
            <a:ext cx="0" cy="1079500"/>
          </a:xfrm>
          <a:prstGeom prst="line">
            <a:avLst/>
          </a:prstGeom>
          <a:ln w="19050">
            <a:solidFill>
              <a:srgbClr val="793327"/>
            </a:solidFill>
            <a:prstDash val="dash"/>
          </a:ln>
        </p:spPr>
      </p:cxnSp>
      <p:cxnSp>
        <p:nvCxnSpPr>
          <p:cNvPr id="22" name="wire"/>
          <p:cNvCxnSpPr/>
          <p:nvPr/>
        </p:nvCxnSpPr>
        <p:spPr>
          <a:xfrm>
            <a:off x="6096000" y="4699000"/>
            <a:ext cx="0" cy="381000"/>
          </a:xfrm>
          <a:prstGeom prst="line">
            <a:avLst/>
          </a:prstGeom>
          <a:ln w="19050">
            <a:solidFill>
              <a:srgbClr val="793327"/>
            </a:solidFill>
            <a:prstDash val="dash"/>
          </a:ln>
        </p:spPr>
      </p:cxnSp>
      <p:sp>
        <p:nvSpPr>
          <p:cNvPr id="23" name="div.box"/>
          <p:cNvSpPr/>
          <p:nvPr/>
        </p:nvSpPr>
        <p:spPr>
          <a:xfrm>
            <a:off x="9017000" y="1752600"/>
            <a:ext cx="2032000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24" name="p.bt"/>
          <p:cNvSpPr txBox="1"/>
          <p:nvPr/>
        </p:nvSpPr>
        <p:spPr>
          <a:xfrm>
            <a:off x="9023350" y="1902587"/>
            <a:ext cx="20193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211D"/>
                </a:solidFill>
                <a:latin typeface="EB Garamond"/>
              </a:rPr>
              <a:t>Issuer</a:t>
            </a:r>
            <a:endParaRPr sz="1900"/>
          </a:p>
        </p:txBody>
      </p:sp>
      <p:sp>
        <p:nvSpPr>
          <p:cNvPr id="25" name="box::after:borderRight"/>
          <p:cNvSpPr/>
          <p:nvPr/>
        </p:nvSpPr>
        <p:spPr>
          <a:xfrm>
            <a:off x="11074400" y="1797050"/>
            <a:ext cx="6350" cy="5715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6" name="box::after:borderBottom"/>
          <p:cNvSpPr/>
          <p:nvPr/>
        </p:nvSpPr>
        <p:spPr>
          <a:xfrm>
            <a:off x="9061450" y="2362200"/>
            <a:ext cx="2019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7" name="div.box"/>
          <p:cNvSpPr/>
          <p:nvPr/>
        </p:nvSpPr>
        <p:spPr>
          <a:xfrm>
            <a:off x="9017000" y="2870200"/>
            <a:ext cx="2032000" cy="66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28" name="p.bt"/>
          <p:cNvSpPr txBox="1"/>
          <p:nvPr/>
        </p:nvSpPr>
        <p:spPr>
          <a:xfrm>
            <a:off x="9023350" y="3058096"/>
            <a:ext cx="20193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211D"/>
                </a:solidFill>
                <a:latin typeface="EB Garamond"/>
              </a:rPr>
              <a:t>Borrower</a:t>
            </a:r>
            <a:endParaRPr sz="1900"/>
          </a:p>
        </p:txBody>
      </p:sp>
      <p:sp>
        <p:nvSpPr>
          <p:cNvPr id="29" name="box::after:borderRight"/>
          <p:cNvSpPr/>
          <p:nvPr/>
        </p:nvSpPr>
        <p:spPr>
          <a:xfrm>
            <a:off x="11074400" y="2914650"/>
            <a:ext cx="6350" cy="647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0" name="box::after:borderBottom"/>
          <p:cNvSpPr/>
          <p:nvPr/>
        </p:nvSpPr>
        <p:spPr>
          <a:xfrm>
            <a:off x="9061450" y="3556000"/>
            <a:ext cx="2019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1" name="div.box"/>
          <p:cNvSpPr/>
          <p:nvPr/>
        </p:nvSpPr>
        <p:spPr>
          <a:xfrm>
            <a:off x="9017000" y="4064000"/>
            <a:ext cx="2032000" cy="6985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32" name="p.bt"/>
          <p:cNvSpPr txBox="1"/>
          <p:nvPr/>
        </p:nvSpPr>
        <p:spPr>
          <a:xfrm>
            <a:off x="9023350" y="4162996"/>
            <a:ext cx="20193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211D"/>
                </a:solidFill>
                <a:latin typeface="EB Garamond"/>
              </a:rPr>
              <a:t>Liquidator</a:t>
            </a:r>
            <a:endParaRPr sz="1900"/>
          </a:p>
        </p:txBody>
      </p:sp>
      <p:sp>
        <p:nvSpPr>
          <p:cNvPr id="33" name="p.bs"/>
          <p:cNvSpPr txBox="1"/>
          <p:nvPr/>
        </p:nvSpPr>
        <p:spPr>
          <a:xfrm>
            <a:off x="9023350" y="4479226"/>
            <a:ext cx="20193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6157"/>
                </a:solidFill>
                <a:latin typeface="Source Sans 3"/>
              </a:rPr>
              <a:t>or Spiko itself</a:t>
            </a:r>
            <a:endParaRPr sz="1100"/>
          </a:p>
        </p:txBody>
      </p:sp>
      <p:sp>
        <p:nvSpPr>
          <p:cNvPr id="34" name="box::after:borderRight"/>
          <p:cNvSpPr/>
          <p:nvPr/>
        </p:nvSpPr>
        <p:spPr>
          <a:xfrm>
            <a:off x="11074400" y="4108450"/>
            <a:ext cx="6350" cy="6858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5" name="box::after:borderBottom"/>
          <p:cNvSpPr/>
          <p:nvPr/>
        </p:nvSpPr>
        <p:spPr>
          <a:xfrm>
            <a:off x="9061450" y="4787900"/>
            <a:ext cx="2019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cxnSp>
        <p:nvCxnSpPr>
          <p:cNvPr id="36" name="wire"/>
          <p:cNvCxnSpPr/>
          <p:nvPr/>
        </p:nvCxnSpPr>
        <p:spPr>
          <a:xfrm>
            <a:off x="3429000" y="3200400"/>
            <a:ext cx="1714500" cy="0"/>
          </a:xfrm>
          <a:prstGeom prst="line">
            <a:avLst/>
          </a:prstGeom>
          <a:ln w="15875">
            <a:solidFill>
              <a:srgbClr val="547076"/>
            </a:solidFill>
            <a:headEnd type="triangle" w="med" len="med"/>
            <a:tailEnd type="triangle" w="med" len="med"/>
          </a:ln>
        </p:spPr>
      </p:cxnSp>
      <p:sp>
        <p:nvSpPr>
          <p:cNvPr id="37" name="div.pill usdc"/>
          <p:cNvSpPr/>
          <p:nvPr/>
        </p:nvSpPr>
        <p:spPr>
          <a:xfrm>
            <a:off x="4044950" y="2908300"/>
            <a:ext cx="465931" cy="190500"/>
          </a:xfrm>
          <a:prstGeom prst="rect">
            <a:avLst/>
          </a:prstGeom>
          <a:solidFill>
            <a:srgbClr val="547076"/>
          </a:solidFill>
          <a:ln>
            <a:noFill/>
          </a:ln>
          <a:effectLst/>
        </p:spPr>
      </p:sp>
      <p:sp>
        <p:nvSpPr>
          <p:cNvPr id="38" name="div.pill.usdc"/>
          <p:cNvSpPr txBox="1"/>
          <p:nvPr/>
        </p:nvSpPr>
        <p:spPr>
          <a:xfrm>
            <a:off x="4108450" y="2901950"/>
            <a:ext cx="416846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FFFFFF"/>
                </a:solidFill>
                <a:highlight>
                  <a:srgbClr val="547076"/>
                </a:highlight>
                <a:latin typeface="Source Sans 3"/>
              </a:rPr>
              <a:t>USDC</a:t>
            </a:r>
            <a:endParaRPr sz="1000"/>
          </a:p>
        </p:txBody>
      </p:sp>
      <p:cxnSp>
        <p:nvCxnSpPr>
          <p:cNvPr id="39" name="wire"/>
          <p:cNvCxnSpPr/>
          <p:nvPr/>
        </p:nvCxnSpPr>
        <p:spPr>
          <a:xfrm>
            <a:off x="7048500" y="3086100"/>
            <a:ext cx="1968500" cy="0"/>
          </a:xfrm>
          <a:prstGeom prst="line">
            <a:avLst/>
          </a:prstGeom>
          <a:ln w="15875">
            <a:solidFill>
              <a:srgbClr val="547076"/>
            </a:solidFill>
            <a:tailEnd type="triangle" w="med" len="med"/>
          </a:ln>
        </p:spPr>
      </p:cxnSp>
      <p:sp>
        <p:nvSpPr>
          <p:cNvPr id="40" name="div.pill usdc"/>
          <p:cNvSpPr/>
          <p:nvPr/>
        </p:nvSpPr>
        <p:spPr>
          <a:xfrm>
            <a:off x="7791450" y="2806700"/>
            <a:ext cx="465931" cy="190500"/>
          </a:xfrm>
          <a:prstGeom prst="rect">
            <a:avLst/>
          </a:prstGeom>
          <a:solidFill>
            <a:srgbClr val="547076"/>
          </a:solidFill>
          <a:ln>
            <a:noFill/>
          </a:ln>
          <a:effectLst/>
        </p:spPr>
      </p:sp>
      <p:sp>
        <p:nvSpPr>
          <p:cNvPr id="41" name="div.pill.usdc"/>
          <p:cNvSpPr txBox="1"/>
          <p:nvPr/>
        </p:nvSpPr>
        <p:spPr>
          <a:xfrm>
            <a:off x="7854950" y="2800286"/>
            <a:ext cx="416846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FFFFFF"/>
                </a:solidFill>
                <a:highlight>
                  <a:srgbClr val="547076"/>
                </a:highlight>
                <a:latin typeface="Source Sans 3"/>
              </a:rPr>
              <a:t>USDC</a:t>
            </a:r>
            <a:endParaRPr sz="1000"/>
          </a:p>
        </p:txBody>
      </p:sp>
      <p:cxnSp>
        <p:nvCxnSpPr>
          <p:cNvPr id="42" name="wire"/>
          <p:cNvCxnSpPr/>
          <p:nvPr/>
        </p:nvCxnSpPr>
        <p:spPr>
          <a:xfrm flipH="1">
            <a:off x="7048500" y="3340100"/>
            <a:ext cx="1968500" cy="0"/>
          </a:xfrm>
          <a:prstGeom prst="line">
            <a:avLst/>
          </a:prstGeom>
          <a:ln w="15875">
            <a:solidFill>
              <a:srgbClr val="7A6418"/>
            </a:solidFill>
            <a:tailEnd type="triangle" w="med" len="med"/>
          </a:ln>
        </p:spPr>
      </p:cxnSp>
      <p:sp>
        <p:nvSpPr>
          <p:cNvPr id="43" name="div.pill sh"/>
          <p:cNvSpPr/>
          <p:nvPr/>
        </p:nvSpPr>
        <p:spPr>
          <a:xfrm>
            <a:off x="7715250" y="3416300"/>
            <a:ext cx="619820" cy="19050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44" name="div.pill.sh"/>
          <p:cNvSpPr txBox="1"/>
          <p:nvPr/>
        </p:nvSpPr>
        <p:spPr>
          <a:xfrm>
            <a:off x="7778750" y="3410014"/>
            <a:ext cx="583045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2B211D"/>
                </a:solidFill>
                <a:highlight>
                  <a:srgbClr val="D6B43E"/>
                </a:highlight>
                <a:latin typeface="Source Sans 3"/>
              </a:rPr>
              <a:t>SHARES</a:t>
            </a:r>
            <a:endParaRPr sz="1000"/>
          </a:p>
        </p:txBody>
      </p:sp>
      <p:sp>
        <p:nvSpPr>
          <p:cNvPr id="45" name="div.pill red"/>
          <p:cNvSpPr/>
          <p:nvPr/>
        </p:nvSpPr>
        <p:spPr>
          <a:xfrm>
            <a:off x="9017000" y="3810000"/>
            <a:ext cx="888802" cy="1905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46" name="div.pill.red"/>
          <p:cNvSpPr txBox="1"/>
          <p:nvPr/>
        </p:nvSpPr>
        <p:spPr>
          <a:xfrm>
            <a:off x="9080500" y="3803586"/>
            <a:ext cx="873546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FFFFFF"/>
                </a:solidFill>
                <a:highlight>
                  <a:srgbClr val="793327"/>
                </a:highlight>
                <a:latin typeface="Source Sans 3"/>
              </a:rPr>
              <a:t>ON DEFAULT</a:t>
            </a:r>
            <a:endParaRPr sz="1000"/>
          </a:p>
        </p:txBody>
      </p:sp>
      <p:cxnSp>
        <p:nvCxnSpPr>
          <p:cNvPr id="47" name="wire"/>
          <p:cNvCxnSpPr/>
          <p:nvPr/>
        </p:nvCxnSpPr>
        <p:spPr>
          <a:xfrm flipH="1">
            <a:off x="7048500" y="4279900"/>
            <a:ext cx="1968500" cy="0"/>
          </a:xfrm>
          <a:prstGeom prst="line">
            <a:avLst/>
          </a:prstGeom>
          <a:ln w="15875">
            <a:solidFill>
              <a:srgbClr val="547076"/>
            </a:solidFill>
            <a:tailEnd type="triangle" w="med" len="med"/>
          </a:ln>
        </p:spPr>
      </p:cxnSp>
      <p:sp>
        <p:nvSpPr>
          <p:cNvPr id="48" name="div.pill usdc"/>
          <p:cNvSpPr/>
          <p:nvPr/>
        </p:nvSpPr>
        <p:spPr>
          <a:xfrm>
            <a:off x="7791450" y="4000500"/>
            <a:ext cx="465931" cy="190500"/>
          </a:xfrm>
          <a:prstGeom prst="rect">
            <a:avLst/>
          </a:prstGeom>
          <a:solidFill>
            <a:srgbClr val="547076"/>
          </a:solidFill>
          <a:ln>
            <a:noFill/>
          </a:ln>
          <a:effectLst/>
        </p:spPr>
      </p:sp>
      <p:sp>
        <p:nvSpPr>
          <p:cNvPr id="49" name="div.pill.usdc"/>
          <p:cNvSpPr txBox="1"/>
          <p:nvPr/>
        </p:nvSpPr>
        <p:spPr>
          <a:xfrm>
            <a:off x="7854950" y="3994150"/>
            <a:ext cx="416846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FFFFFF"/>
                </a:solidFill>
                <a:highlight>
                  <a:srgbClr val="547076"/>
                </a:highlight>
                <a:latin typeface="Source Sans 3"/>
              </a:rPr>
              <a:t>USDC</a:t>
            </a:r>
            <a:endParaRPr sz="1000"/>
          </a:p>
        </p:txBody>
      </p:sp>
      <p:cxnSp>
        <p:nvCxnSpPr>
          <p:cNvPr id="50" name="wire"/>
          <p:cNvCxnSpPr/>
          <p:nvPr/>
        </p:nvCxnSpPr>
        <p:spPr>
          <a:xfrm>
            <a:off x="7048500" y="4521200"/>
            <a:ext cx="1968500" cy="0"/>
          </a:xfrm>
          <a:prstGeom prst="line">
            <a:avLst/>
          </a:prstGeom>
          <a:ln w="15875">
            <a:solidFill>
              <a:srgbClr val="7A6418"/>
            </a:solidFill>
            <a:tailEnd type="triangle" w="med" len="med"/>
          </a:ln>
        </p:spPr>
      </p:cxnSp>
      <p:sp>
        <p:nvSpPr>
          <p:cNvPr id="51" name="div.pill sh"/>
          <p:cNvSpPr/>
          <p:nvPr/>
        </p:nvSpPr>
        <p:spPr>
          <a:xfrm>
            <a:off x="7715250" y="4597400"/>
            <a:ext cx="619820" cy="19050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52" name="div.pill.sh"/>
          <p:cNvSpPr txBox="1"/>
          <p:nvPr/>
        </p:nvSpPr>
        <p:spPr>
          <a:xfrm>
            <a:off x="7778750" y="4591050"/>
            <a:ext cx="583045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2B211D"/>
                </a:solidFill>
                <a:highlight>
                  <a:srgbClr val="D6B43E"/>
                </a:highlight>
                <a:latin typeface="Source Sans 3"/>
              </a:rPr>
              <a:t>SHARES</a:t>
            </a:r>
            <a:endParaRPr sz="1000"/>
          </a:p>
        </p:txBody>
      </p:sp>
      <p:cxnSp>
        <p:nvCxnSpPr>
          <p:cNvPr id="53" name="wire"/>
          <p:cNvCxnSpPr/>
          <p:nvPr/>
        </p:nvCxnSpPr>
        <p:spPr>
          <a:xfrm flipH="1">
            <a:off x="6667500" y="2044700"/>
            <a:ext cx="2349500" cy="0"/>
          </a:xfrm>
          <a:prstGeom prst="line">
            <a:avLst/>
          </a:prstGeom>
          <a:ln w="15875">
            <a:solidFill>
              <a:srgbClr val="9C8A70"/>
            </a:solidFill>
            <a:prstDash val="dash"/>
          </a:ln>
        </p:spPr>
      </p:cxnSp>
      <p:cxnSp>
        <p:nvCxnSpPr>
          <p:cNvPr id="54" name="wire"/>
          <p:cNvCxnSpPr/>
          <p:nvPr/>
        </p:nvCxnSpPr>
        <p:spPr>
          <a:xfrm>
            <a:off x="6667500" y="2044700"/>
            <a:ext cx="0" cy="355600"/>
          </a:xfrm>
          <a:prstGeom prst="line">
            <a:avLst/>
          </a:prstGeom>
          <a:ln w="15875">
            <a:solidFill>
              <a:srgbClr val="9C8A70"/>
            </a:solidFill>
            <a:prstDash val="dash"/>
            <a:tailEnd type="triangle" w="med" len="med"/>
          </a:ln>
        </p:spPr>
      </p:cxnSp>
      <p:sp>
        <p:nvSpPr>
          <p:cNvPr id="55" name="div.lbl"/>
          <p:cNvSpPr txBox="1"/>
          <p:nvPr/>
        </p:nvSpPr>
        <p:spPr>
          <a:xfrm>
            <a:off x="7543800" y="1793430"/>
            <a:ext cx="650768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E6157"/>
                </a:solidFill>
                <a:latin typeface="Source Sans 3"/>
              </a:rPr>
              <a:t>whitelists</a:t>
            </a:r>
            <a:endParaRPr sz="1100"/>
          </a:p>
        </p:txBody>
      </p:sp>
      <p:sp>
        <p:nvSpPr>
          <p:cNvPr id="56" name="div.q"/>
          <p:cNvSpPr/>
          <p:nvPr/>
        </p:nvSpPr>
        <p:spPr>
          <a:xfrm>
            <a:off x="812800" y="5308600"/>
            <a:ext cx="10566400" cy="609600"/>
          </a:xfrm>
          <a:prstGeom prst="rect">
            <a:avLst/>
          </a:prstGeom>
          <a:solidFill>
            <a:srgbClr val="F6EDC9"/>
          </a:solidFill>
          <a:ln w="12700">
            <a:solidFill>
              <a:srgbClr val="7A6418"/>
            </a:solidFill>
          </a:ln>
          <a:effectLst/>
        </p:spPr>
      </p:sp>
      <p:sp>
        <p:nvSpPr>
          <p:cNvPr id="57" name="div.t"/>
          <p:cNvSpPr txBox="1"/>
          <p:nvPr/>
        </p:nvSpPr>
        <p:spPr>
          <a:xfrm>
            <a:off x="1079500" y="5450840"/>
            <a:ext cx="7309672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11D"/>
                </a:solidFill>
                <a:latin typeface="EB Garamond"/>
              </a:rPr>
              <a:t>Is a whitelist-crossing structure possible? Would issuers approve it?</a:t>
            </a:r>
            <a:endParaRPr sz="2100"/>
          </a:p>
        </p:txBody>
      </p:sp>
      <p:sp>
        <p:nvSpPr>
          <p:cNvPr id="58" name="div.src"/>
          <p:cNvSpPr txBox="1"/>
          <p:nvPr/>
        </p:nvSpPr>
        <p:spPr>
          <a:xfrm>
            <a:off x="812800" y="6402006"/>
            <a:ext cx="5080714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6157"/>
                </a:solidFill>
                <a:latin typeface="Source Sans 3"/>
              </a:rPr>
              <a:t>Sources: Caravel README (How it works); kyc-assets report, 25 Oct 2026. Shares = fund shares, e.g. Spiko SAFO.</a:t>
            </a:r>
            <a:endParaRPr sz="800"/>
          </a:p>
        </p:txBody>
      </p:sp>
      <p:pic>
        <p:nvPicPr>
          <p:cNvPr id="59" name="caravel-mark" descr="caravel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231" y="6324600"/>
            <a:ext cx="298549" cy="215900"/>
          </a:xfrm>
          <a:prstGeom prst="rect">
            <a:avLst/>
          </a:prstGeom>
        </p:spPr>
      </p:pic>
      <p:sp>
        <p:nvSpPr>
          <p:cNvPr id="60" name="div.pg"/>
          <p:cNvSpPr txBox="1"/>
          <p:nvPr/>
        </p:nvSpPr>
        <p:spPr>
          <a:xfrm>
            <a:off x="10899080" y="6365938"/>
            <a:ext cx="569329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157"/>
                </a:solidFill>
                <a:latin typeface="Source Code Pro"/>
              </a:rPr>
              <a:t>02 / 04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s3::before"/>
          <p:cNvSpPr/>
          <p:nvPr/>
        </p:nvSpPr>
        <p:spPr>
          <a:xfrm>
            <a:off x="203200" y="203200"/>
            <a:ext cx="11772900" cy="6438900"/>
          </a:xfrm>
          <a:prstGeom prst="rect">
            <a:avLst/>
          </a:prstGeom>
          <a:noFill/>
          <a:ln w="6350">
            <a:solidFill>
              <a:srgbClr val="E6DCCB"/>
            </a:solidFill>
          </a:ln>
          <a:effectLst/>
        </p:spPr>
      </p:sp>
      <p:sp>
        <p:nvSpPr>
          <p:cNvPr id="3" name="h1"/>
          <p:cNvSpPr txBox="1"/>
          <p:nvPr/>
        </p:nvSpPr>
        <p:spPr>
          <a:xfrm>
            <a:off x="812800" y="535876"/>
            <a:ext cx="1007999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36">
                <a:solidFill>
                  <a:srgbClr val="2B211D"/>
                </a:solidFill>
                <a:latin typeface="EB Garamond"/>
              </a:rPr>
              <a:t>Rates, traded like a Bitcoin order book</a:t>
            </a:r>
            <a:endParaRPr sz="3600"/>
          </a:p>
        </p:txBody>
      </p:sp>
      <p:sp>
        <p:nvSpPr>
          <p:cNvPr id="4" name="div.cap"/>
          <p:cNvSpPr txBox="1"/>
          <p:nvPr/>
        </p:nvSpPr>
        <p:spPr>
          <a:xfrm>
            <a:off x="2286000" y="1414653"/>
            <a:ext cx="48596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APR %</a:t>
            </a:r>
            <a:endParaRPr sz="950"/>
          </a:p>
        </p:txBody>
      </p:sp>
      <p:sp>
        <p:nvSpPr>
          <p:cNvPr id="5" name="div.cap"/>
          <p:cNvSpPr txBox="1"/>
          <p:nvPr/>
        </p:nvSpPr>
        <p:spPr>
          <a:xfrm>
            <a:off x="3683000" y="1414653"/>
            <a:ext cx="41931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USDC</a:t>
            </a:r>
            <a:endParaRPr sz="950"/>
          </a:p>
        </p:txBody>
      </p:sp>
      <p:sp>
        <p:nvSpPr>
          <p:cNvPr id="6" name="div.cap"/>
          <p:cNvSpPr txBox="1"/>
          <p:nvPr/>
        </p:nvSpPr>
        <p:spPr>
          <a:xfrm>
            <a:off x="4953000" y="1414653"/>
            <a:ext cx="479639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TOTAL</a:t>
            </a:r>
            <a:endParaRPr sz="950"/>
          </a:p>
        </p:txBody>
      </p:sp>
      <p:sp>
        <p:nvSpPr>
          <p:cNvPr id="7" name="div.side"/>
          <p:cNvSpPr txBox="1"/>
          <p:nvPr/>
        </p:nvSpPr>
        <p:spPr>
          <a:xfrm>
            <a:off x="812800" y="2209927"/>
            <a:ext cx="888869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793327"/>
                </a:solidFill>
                <a:latin typeface="EB Garamond"/>
              </a:rPr>
              <a:t>Lenders</a:t>
            </a:r>
            <a:endParaRPr sz="2000"/>
          </a:p>
        </p:txBody>
      </p:sp>
      <p:sp>
        <p:nvSpPr>
          <p:cNvPr id="8" name="div.vrule"/>
          <p:cNvSpPr/>
          <p:nvPr/>
        </p:nvSpPr>
        <p:spPr>
          <a:xfrm>
            <a:off x="2019300" y="1714500"/>
            <a:ext cx="25400" cy="14224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9" name="div.dp ask"/>
          <p:cNvSpPr/>
          <p:nvPr/>
        </p:nvSpPr>
        <p:spPr>
          <a:xfrm>
            <a:off x="4953000" y="1778000"/>
            <a:ext cx="2476500" cy="279400"/>
          </a:xfrm>
          <a:prstGeom prst="rect">
            <a:avLst/>
          </a:prstGeom>
          <a:solidFill>
            <a:srgbClr val="ECCCC5"/>
          </a:solidFill>
          <a:ln>
            <a:noFill/>
          </a:ln>
          <a:effectLst/>
        </p:spPr>
      </p:sp>
      <p:sp>
        <p:nvSpPr>
          <p:cNvPr id="10" name="div.sz"/>
          <p:cNvSpPr txBox="1"/>
          <p:nvPr/>
        </p:nvSpPr>
        <p:spPr>
          <a:xfrm>
            <a:off x="5016500" y="1610233"/>
            <a:ext cx="39648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93327"/>
                </a:solidFill>
                <a:latin typeface="Source Code Pro"/>
              </a:rPr>
              <a:t>300</a:t>
            </a:r>
            <a:endParaRPr sz="1400"/>
          </a:p>
        </p:txBody>
      </p:sp>
      <p:sp>
        <p:nvSpPr>
          <p:cNvPr id="11" name="div.px.ask"/>
          <p:cNvSpPr txBox="1"/>
          <p:nvPr/>
        </p:nvSpPr>
        <p:spPr>
          <a:xfrm>
            <a:off x="2286000" y="1671383"/>
            <a:ext cx="80796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93327"/>
                </a:solidFill>
                <a:latin typeface="Source Code Pro"/>
              </a:rPr>
              <a:t>6.50</a:t>
            </a:r>
            <a:endParaRPr sz="2300"/>
          </a:p>
        </p:txBody>
      </p:sp>
      <p:sp>
        <p:nvSpPr>
          <p:cNvPr id="12" name="div.sz"/>
          <p:cNvSpPr txBox="1"/>
          <p:nvPr/>
        </p:nvSpPr>
        <p:spPr>
          <a:xfrm>
            <a:off x="3683000" y="1651127"/>
            <a:ext cx="54457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211D"/>
                </a:solidFill>
                <a:latin typeface="Source Code Pro"/>
              </a:rPr>
              <a:t>100</a:t>
            </a:r>
            <a:endParaRPr sz="2000"/>
          </a:p>
        </p:txBody>
      </p:sp>
      <p:sp>
        <p:nvSpPr>
          <p:cNvPr id="13" name="div.dp ask"/>
          <p:cNvSpPr/>
          <p:nvPr/>
        </p:nvSpPr>
        <p:spPr>
          <a:xfrm>
            <a:off x="4953000" y="2260600"/>
            <a:ext cx="1651000" cy="279400"/>
          </a:xfrm>
          <a:prstGeom prst="rect">
            <a:avLst/>
          </a:prstGeom>
          <a:solidFill>
            <a:srgbClr val="ECCCC5"/>
          </a:solidFill>
          <a:ln>
            <a:noFill/>
          </a:ln>
          <a:effectLst/>
        </p:spPr>
      </p:sp>
      <p:sp>
        <p:nvSpPr>
          <p:cNvPr id="14" name="div.sz"/>
          <p:cNvSpPr txBox="1"/>
          <p:nvPr/>
        </p:nvSpPr>
        <p:spPr>
          <a:xfrm>
            <a:off x="5016500" y="2093024"/>
            <a:ext cx="39648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93327"/>
                </a:solidFill>
                <a:latin typeface="Source Code Pro"/>
              </a:rPr>
              <a:t>200</a:t>
            </a:r>
            <a:endParaRPr sz="1400"/>
          </a:p>
        </p:txBody>
      </p:sp>
      <p:sp>
        <p:nvSpPr>
          <p:cNvPr id="15" name="div.px.ask"/>
          <p:cNvSpPr txBox="1"/>
          <p:nvPr/>
        </p:nvSpPr>
        <p:spPr>
          <a:xfrm>
            <a:off x="2286000" y="2153856"/>
            <a:ext cx="80796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93327"/>
                </a:solidFill>
                <a:latin typeface="Source Code Pro"/>
              </a:rPr>
              <a:t>6.00</a:t>
            </a:r>
            <a:endParaRPr sz="2300"/>
          </a:p>
        </p:txBody>
      </p:sp>
      <p:sp>
        <p:nvSpPr>
          <p:cNvPr id="16" name="div.sz"/>
          <p:cNvSpPr txBox="1"/>
          <p:nvPr/>
        </p:nvSpPr>
        <p:spPr>
          <a:xfrm>
            <a:off x="3683000" y="2133536"/>
            <a:ext cx="54457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211D"/>
                </a:solidFill>
                <a:latin typeface="Source Code Pro"/>
              </a:rPr>
              <a:t>100</a:t>
            </a:r>
            <a:endParaRPr sz="2000"/>
          </a:p>
        </p:txBody>
      </p:sp>
      <p:sp>
        <p:nvSpPr>
          <p:cNvPr id="17" name="div.dp ask"/>
          <p:cNvSpPr/>
          <p:nvPr/>
        </p:nvSpPr>
        <p:spPr>
          <a:xfrm>
            <a:off x="4953000" y="2743200"/>
            <a:ext cx="825500" cy="279400"/>
          </a:xfrm>
          <a:prstGeom prst="rect">
            <a:avLst/>
          </a:prstGeom>
          <a:solidFill>
            <a:srgbClr val="ECCCC5"/>
          </a:solidFill>
          <a:ln>
            <a:noFill/>
          </a:ln>
          <a:effectLst/>
        </p:spPr>
      </p:sp>
      <p:sp>
        <p:nvSpPr>
          <p:cNvPr id="18" name="div.sz"/>
          <p:cNvSpPr txBox="1"/>
          <p:nvPr/>
        </p:nvSpPr>
        <p:spPr>
          <a:xfrm>
            <a:off x="5016500" y="2575496"/>
            <a:ext cx="39648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93327"/>
                </a:solidFill>
                <a:latin typeface="Source Code Pro"/>
              </a:rPr>
              <a:t>100</a:t>
            </a:r>
            <a:endParaRPr sz="1400"/>
          </a:p>
        </p:txBody>
      </p:sp>
      <p:sp>
        <p:nvSpPr>
          <p:cNvPr id="19" name="div.px.ask"/>
          <p:cNvSpPr txBox="1"/>
          <p:nvPr/>
        </p:nvSpPr>
        <p:spPr>
          <a:xfrm>
            <a:off x="2286000" y="2636647"/>
            <a:ext cx="80796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93327"/>
                </a:solidFill>
                <a:latin typeface="Source Code Pro"/>
              </a:rPr>
              <a:t>5.00</a:t>
            </a:r>
            <a:endParaRPr sz="2300"/>
          </a:p>
        </p:txBody>
      </p:sp>
      <p:sp>
        <p:nvSpPr>
          <p:cNvPr id="20" name="div.sz"/>
          <p:cNvSpPr txBox="1"/>
          <p:nvPr/>
        </p:nvSpPr>
        <p:spPr>
          <a:xfrm>
            <a:off x="3683000" y="2616390"/>
            <a:ext cx="54457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211D"/>
                </a:solidFill>
                <a:latin typeface="Source Code Pro"/>
              </a:rPr>
              <a:t>100</a:t>
            </a:r>
            <a:endParaRPr sz="2000"/>
          </a:p>
        </p:txBody>
      </p:sp>
      <p:sp>
        <p:nvSpPr>
          <p:cNvPr id="21" name="div.hrule"/>
          <p:cNvSpPr/>
          <p:nvPr/>
        </p:nvSpPr>
        <p:spPr>
          <a:xfrm>
            <a:off x="2019300" y="3213100"/>
            <a:ext cx="54102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2" name="div.sprd"/>
          <p:cNvSpPr txBox="1"/>
          <p:nvPr/>
        </p:nvSpPr>
        <p:spPr>
          <a:xfrm>
            <a:off x="2286000" y="3309620"/>
            <a:ext cx="1227697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157"/>
                </a:solidFill>
                <a:latin typeface="Source Code Pro"/>
              </a:rPr>
              <a:t>spread 0.50</a:t>
            </a:r>
            <a:endParaRPr sz="1300"/>
          </a:p>
        </p:txBody>
      </p:sp>
      <p:sp>
        <p:nvSpPr>
          <p:cNvPr id="23" name="div.pill spark"/>
          <p:cNvSpPr/>
          <p:nvPr/>
        </p:nvSpPr>
        <p:spPr>
          <a:xfrm>
            <a:off x="4953000" y="3276600"/>
            <a:ext cx="718939" cy="241300"/>
          </a:xfrm>
          <a:prstGeom prst="rect">
            <a:avLst/>
          </a:prstGeom>
          <a:solidFill>
            <a:srgbClr val="F6EDC9"/>
          </a:solidFill>
          <a:ln w="12700">
            <a:solidFill>
              <a:srgbClr val="D6B43E"/>
            </a:solidFill>
          </a:ln>
          <a:effectLst/>
        </p:spPr>
      </p:sp>
      <p:sp>
        <p:nvSpPr>
          <p:cNvPr id="24" name="div.pill.spark"/>
          <p:cNvSpPr txBox="1"/>
          <p:nvPr/>
        </p:nvSpPr>
        <p:spPr>
          <a:xfrm>
            <a:off x="5029200" y="3281616"/>
            <a:ext cx="662662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72">
                <a:solidFill>
                  <a:srgbClr val="7A6418"/>
                </a:solidFill>
                <a:highlight>
                  <a:srgbClr val="F6EDC9"/>
                </a:highlight>
                <a:latin typeface="Source Sans 3"/>
              </a:rPr>
              <a:t>SPARK?</a:t>
            </a:r>
            <a:endParaRPr sz="1200"/>
          </a:p>
        </p:txBody>
      </p:sp>
      <p:sp>
        <p:nvSpPr>
          <p:cNvPr id="25" name="div.hrule"/>
          <p:cNvSpPr/>
          <p:nvPr/>
        </p:nvSpPr>
        <p:spPr>
          <a:xfrm>
            <a:off x="2019300" y="3606800"/>
            <a:ext cx="54102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6" name="div.side"/>
          <p:cNvSpPr txBox="1"/>
          <p:nvPr/>
        </p:nvSpPr>
        <p:spPr>
          <a:xfrm>
            <a:off x="812800" y="3771773"/>
            <a:ext cx="1130828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6683F"/>
                </a:solidFill>
                <a:latin typeface="EB Garamond"/>
              </a:rPr>
              <a:t>Borrowers</a:t>
            </a:r>
            <a:endParaRPr sz="2000"/>
          </a:p>
        </p:txBody>
      </p:sp>
      <p:sp>
        <p:nvSpPr>
          <p:cNvPr id="27" name="div.vrule"/>
          <p:cNvSpPr/>
          <p:nvPr/>
        </p:nvSpPr>
        <p:spPr>
          <a:xfrm>
            <a:off x="2019300" y="3683000"/>
            <a:ext cx="25400" cy="457200"/>
          </a:xfrm>
          <a:prstGeom prst="rect">
            <a:avLst/>
          </a:prstGeom>
          <a:solidFill>
            <a:srgbClr val="46683F"/>
          </a:solidFill>
          <a:ln>
            <a:noFill/>
          </a:ln>
          <a:effectLst/>
        </p:spPr>
      </p:sp>
      <p:sp>
        <p:nvSpPr>
          <p:cNvPr id="28" name="div.dp bid"/>
          <p:cNvSpPr/>
          <p:nvPr/>
        </p:nvSpPr>
        <p:spPr>
          <a:xfrm>
            <a:off x="4953000" y="3771900"/>
            <a:ext cx="825500" cy="279400"/>
          </a:xfrm>
          <a:prstGeom prst="rect">
            <a:avLst/>
          </a:prstGeom>
          <a:solidFill>
            <a:srgbClr val="CDDCC8"/>
          </a:solidFill>
          <a:ln>
            <a:noFill/>
          </a:ln>
          <a:effectLst/>
        </p:spPr>
      </p:sp>
      <p:sp>
        <p:nvSpPr>
          <p:cNvPr id="29" name="div.sz"/>
          <p:cNvSpPr txBox="1"/>
          <p:nvPr/>
        </p:nvSpPr>
        <p:spPr>
          <a:xfrm>
            <a:off x="5016500" y="3604387"/>
            <a:ext cx="39648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683F"/>
                </a:solidFill>
                <a:latin typeface="Source Code Pro"/>
              </a:rPr>
              <a:t>100</a:t>
            </a:r>
            <a:endParaRPr sz="1400"/>
          </a:p>
        </p:txBody>
      </p:sp>
      <p:sp>
        <p:nvSpPr>
          <p:cNvPr id="30" name="div.px.bid"/>
          <p:cNvSpPr txBox="1"/>
          <p:nvPr/>
        </p:nvSpPr>
        <p:spPr>
          <a:xfrm>
            <a:off x="2286000" y="3665157"/>
            <a:ext cx="80796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6683F"/>
                </a:solidFill>
                <a:latin typeface="Source Code Pro"/>
              </a:rPr>
              <a:t>4.50</a:t>
            </a:r>
            <a:endParaRPr sz="2300"/>
          </a:p>
        </p:txBody>
      </p:sp>
      <p:sp>
        <p:nvSpPr>
          <p:cNvPr id="31" name="div.sz"/>
          <p:cNvSpPr txBox="1"/>
          <p:nvPr/>
        </p:nvSpPr>
        <p:spPr>
          <a:xfrm>
            <a:off x="3683000" y="3644900"/>
            <a:ext cx="544576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211D"/>
                </a:solidFill>
                <a:latin typeface="Source Code Pro"/>
              </a:rPr>
              <a:t>100</a:t>
            </a:r>
            <a:endParaRPr sz="2000"/>
          </a:p>
        </p:txBody>
      </p:sp>
      <p:sp>
        <p:nvSpPr>
          <p:cNvPr id="32" name="div.lbl"/>
          <p:cNvSpPr txBox="1"/>
          <p:nvPr/>
        </p:nvSpPr>
        <p:spPr>
          <a:xfrm>
            <a:off x="812800" y="4573206"/>
            <a:ext cx="2261862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6157"/>
                </a:solidFill>
                <a:latin typeface="Source Sans 3"/>
              </a:rPr>
              <a:t>Few interested. Not validated.</a:t>
            </a:r>
            <a:endParaRPr sz="1300"/>
          </a:p>
        </p:txBody>
      </p:sp>
      <p:sp>
        <p:nvSpPr>
          <p:cNvPr id="33" name="div.cap"/>
          <p:cNvSpPr txBox="1"/>
          <p:nvPr/>
        </p:nvSpPr>
        <p:spPr>
          <a:xfrm>
            <a:off x="8191500" y="1414653"/>
            <a:ext cx="133228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ALSO IN THE BOOK</a:t>
            </a:r>
            <a:endParaRPr sz="950"/>
          </a:p>
        </p:txBody>
      </p:sp>
      <p:sp>
        <p:nvSpPr>
          <p:cNvPr id="34" name="div.box"/>
          <p:cNvSpPr/>
          <p:nvPr/>
        </p:nvSpPr>
        <p:spPr>
          <a:xfrm>
            <a:off x="8191500" y="1638300"/>
            <a:ext cx="1498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35" name="p.bt"/>
          <p:cNvSpPr txBox="1"/>
          <p:nvPr/>
        </p:nvSpPr>
        <p:spPr>
          <a:xfrm>
            <a:off x="8197850" y="1679004"/>
            <a:ext cx="14859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Liquidator</a:t>
            </a:r>
            <a:endParaRPr sz="1600"/>
          </a:p>
        </p:txBody>
      </p:sp>
      <p:sp>
        <p:nvSpPr>
          <p:cNvPr id="36" name="box::after:borderRight"/>
          <p:cNvSpPr/>
          <p:nvPr/>
        </p:nvSpPr>
        <p:spPr>
          <a:xfrm>
            <a:off x="9715500" y="1682750"/>
            <a:ext cx="6350" cy="393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7" name="box::after:borderBottom"/>
          <p:cNvSpPr/>
          <p:nvPr/>
        </p:nvSpPr>
        <p:spPr>
          <a:xfrm>
            <a:off x="8235950" y="2070100"/>
            <a:ext cx="14859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8" name="div.box"/>
          <p:cNvSpPr/>
          <p:nvPr/>
        </p:nvSpPr>
        <p:spPr>
          <a:xfrm>
            <a:off x="9842500" y="1638300"/>
            <a:ext cx="1498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39" name="p.bt"/>
          <p:cNvSpPr txBox="1"/>
          <p:nvPr/>
        </p:nvSpPr>
        <p:spPr>
          <a:xfrm>
            <a:off x="9848850" y="1679004"/>
            <a:ext cx="14859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Issuer</a:t>
            </a:r>
            <a:endParaRPr sz="1600"/>
          </a:p>
        </p:txBody>
      </p:sp>
      <p:sp>
        <p:nvSpPr>
          <p:cNvPr id="40" name="box::after:borderRight"/>
          <p:cNvSpPr/>
          <p:nvPr/>
        </p:nvSpPr>
        <p:spPr>
          <a:xfrm>
            <a:off x="11366500" y="1682750"/>
            <a:ext cx="6350" cy="393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41" name="box::after:borderBottom"/>
          <p:cNvSpPr/>
          <p:nvPr/>
        </p:nvSpPr>
        <p:spPr>
          <a:xfrm>
            <a:off x="9886950" y="2070100"/>
            <a:ext cx="14859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42" name="div.cap"/>
          <p:cNvSpPr txBox="1"/>
          <p:nvPr/>
        </p:nvSpPr>
        <p:spPr>
          <a:xfrm>
            <a:off x="8191500" y="2227770"/>
            <a:ext cx="816539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WHO ELSE?</a:t>
            </a:r>
            <a:endParaRPr sz="950"/>
          </a:p>
        </p:txBody>
      </p:sp>
      <p:sp>
        <p:nvSpPr>
          <p:cNvPr id="43" name="div.chip"/>
          <p:cNvSpPr/>
          <p:nvPr/>
        </p:nvSpPr>
        <p:spPr>
          <a:xfrm>
            <a:off x="8191500" y="2451100"/>
            <a:ext cx="14986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A70"/>
            </a:solidFill>
            <a:prstDash val="dash"/>
          </a:ln>
          <a:effectLst/>
        </p:spPr>
      </p:sp>
      <p:sp>
        <p:nvSpPr>
          <p:cNvPr id="44" name="p.ct"/>
          <p:cNvSpPr txBox="1"/>
          <p:nvPr/>
        </p:nvSpPr>
        <p:spPr>
          <a:xfrm>
            <a:off x="8204200" y="2527173"/>
            <a:ext cx="14732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11D"/>
                </a:solidFill>
                <a:latin typeface="Source Sans 3"/>
              </a:rPr>
              <a:t>EUR carry traders</a:t>
            </a:r>
            <a:endParaRPr sz="1250"/>
          </a:p>
        </p:txBody>
      </p:sp>
      <p:sp>
        <p:nvSpPr>
          <p:cNvPr id="45" name="div.chip"/>
          <p:cNvSpPr/>
          <p:nvPr/>
        </p:nvSpPr>
        <p:spPr>
          <a:xfrm>
            <a:off x="9842500" y="2451100"/>
            <a:ext cx="14986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A70"/>
            </a:solidFill>
            <a:prstDash val="dash"/>
          </a:ln>
          <a:effectLst/>
        </p:spPr>
      </p:sp>
      <p:sp>
        <p:nvSpPr>
          <p:cNvPr id="46" name="p.ct"/>
          <p:cNvSpPr txBox="1"/>
          <p:nvPr/>
        </p:nvSpPr>
        <p:spPr>
          <a:xfrm>
            <a:off x="9855200" y="2527173"/>
            <a:ext cx="14732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11D"/>
                </a:solidFill>
                <a:latin typeface="Source Sans 3"/>
              </a:rPr>
              <a:t>USDY holders</a:t>
            </a:r>
            <a:endParaRPr sz="1250"/>
          </a:p>
        </p:txBody>
      </p:sp>
      <p:sp>
        <p:nvSpPr>
          <p:cNvPr id="47" name="div.chip"/>
          <p:cNvSpPr/>
          <p:nvPr/>
        </p:nvSpPr>
        <p:spPr>
          <a:xfrm>
            <a:off x="8191500" y="2870200"/>
            <a:ext cx="14986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A70"/>
            </a:solidFill>
            <a:prstDash val="dash"/>
          </a:ln>
          <a:effectLst/>
        </p:spPr>
      </p:sp>
      <p:sp>
        <p:nvSpPr>
          <p:cNvPr id="48" name="p.ct"/>
          <p:cNvSpPr txBox="1"/>
          <p:nvPr/>
        </p:nvSpPr>
        <p:spPr>
          <a:xfrm>
            <a:off x="8204200" y="2946336"/>
            <a:ext cx="14732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11D"/>
                </a:solidFill>
                <a:latin typeface="Source Sans 3"/>
              </a:rPr>
              <a:t>Treasuries</a:t>
            </a:r>
            <a:endParaRPr sz="1250"/>
          </a:p>
        </p:txBody>
      </p:sp>
      <p:sp>
        <p:nvSpPr>
          <p:cNvPr id="49" name="div.chip"/>
          <p:cNvSpPr/>
          <p:nvPr/>
        </p:nvSpPr>
        <p:spPr>
          <a:xfrm>
            <a:off x="9842500" y="2870200"/>
            <a:ext cx="14986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A70"/>
            </a:solidFill>
            <a:prstDash val="dash"/>
          </a:ln>
          <a:effectLst/>
        </p:spPr>
      </p:sp>
      <p:sp>
        <p:nvSpPr>
          <p:cNvPr id="50" name="p.ct"/>
          <p:cNvSpPr txBox="1"/>
          <p:nvPr/>
        </p:nvSpPr>
        <p:spPr>
          <a:xfrm>
            <a:off x="9855200" y="2946336"/>
            <a:ext cx="14732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11D"/>
                </a:solidFill>
                <a:latin typeface="Source Sans 3"/>
              </a:rPr>
              <a:t>Market makers</a:t>
            </a:r>
            <a:endParaRPr sz="1250"/>
          </a:p>
        </p:txBody>
      </p:sp>
      <p:sp>
        <p:nvSpPr>
          <p:cNvPr id="51" name="div.cap"/>
          <p:cNvSpPr txBox="1"/>
          <p:nvPr/>
        </p:nvSpPr>
        <p:spPr>
          <a:xfrm>
            <a:off x="8191500" y="3408807"/>
            <a:ext cx="130870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LIVE TESTNET APP</a:t>
            </a:r>
            <a:endParaRPr sz="950"/>
          </a:p>
        </p:txBody>
      </p:sp>
      <p:sp>
        <p:nvSpPr>
          <p:cNvPr id="52" name="div.frame"/>
          <p:cNvSpPr/>
          <p:nvPr/>
        </p:nvSpPr>
        <p:spPr>
          <a:xfrm>
            <a:off x="8191500" y="3632200"/>
            <a:ext cx="314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pic>
        <p:nvPicPr>
          <p:cNvPr id="53" name="live-offers" descr="live-of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850" y="3638550"/>
            <a:ext cx="3136900" cy="673100"/>
          </a:xfrm>
          <a:prstGeom prst="rect">
            <a:avLst/>
          </a:prstGeom>
        </p:spPr>
      </p:pic>
      <p:sp>
        <p:nvSpPr>
          <p:cNvPr id="54" name="frame::after:borderRight"/>
          <p:cNvSpPr/>
          <p:nvPr/>
        </p:nvSpPr>
        <p:spPr>
          <a:xfrm>
            <a:off x="11366500" y="3676650"/>
            <a:ext cx="6350" cy="6731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55" name="frame::after:borderBottom"/>
          <p:cNvSpPr/>
          <p:nvPr/>
        </p:nvSpPr>
        <p:spPr>
          <a:xfrm>
            <a:off x="8235950" y="4343400"/>
            <a:ext cx="31369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56" name="div.frame"/>
          <p:cNvSpPr/>
          <p:nvPr/>
        </p:nvSpPr>
        <p:spPr>
          <a:xfrm>
            <a:off x="8191500" y="4432300"/>
            <a:ext cx="3149600" cy="36195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pic>
        <p:nvPicPr>
          <p:cNvPr id="57" name="live-requests" descr="live-requ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850" y="4438650"/>
            <a:ext cx="3136900" cy="349250"/>
          </a:xfrm>
          <a:prstGeom prst="rect">
            <a:avLst/>
          </a:prstGeom>
        </p:spPr>
      </p:pic>
      <p:sp>
        <p:nvSpPr>
          <p:cNvPr id="58" name="frame::after:borderRight"/>
          <p:cNvSpPr/>
          <p:nvPr/>
        </p:nvSpPr>
        <p:spPr>
          <a:xfrm>
            <a:off x="11366500" y="4476750"/>
            <a:ext cx="6350" cy="3492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59" name="frame::after:borderBottom"/>
          <p:cNvSpPr/>
          <p:nvPr/>
        </p:nvSpPr>
        <p:spPr>
          <a:xfrm>
            <a:off x="8235950" y="4819650"/>
            <a:ext cx="31369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60" name="div.q"/>
          <p:cNvSpPr/>
          <p:nvPr/>
        </p:nvSpPr>
        <p:spPr>
          <a:xfrm>
            <a:off x="812800" y="5308600"/>
            <a:ext cx="10566400" cy="609600"/>
          </a:xfrm>
          <a:prstGeom prst="rect">
            <a:avLst/>
          </a:prstGeom>
          <a:solidFill>
            <a:srgbClr val="F6EDC9"/>
          </a:solidFill>
          <a:ln w="12700">
            <a:solidFill>
              <a:srgbClr val="7A6418"/>
            </a:solidFill>
          </a:ln>
          <a:effectLst/>
        </p:spPr>
      </p:sp>
      <p:sp>
        <p:nvSpPr>
          <p:cNvPr id="61" name="div.t"/>
          <p:cNvSpPr txBox="1"/>
          <p:nvPr/>
        </p:nvSpPr>
        <p:spPr>
          <a:xfrm>
            <a:off x="1079500" y="5450840"/>
            <a:ext cx="6773354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11D"/>
                </a:solidFill>
                <a:latin typeface="EB Garamond"/>
              </a:rPr>
              <a:t>Who in the market would use this? What would be the spark?</a:t>
            </a:r>
            <a:endParaRPr sz="2100"/>
          </a:p>
        </p:txBody>
      </p:sp>
      <p:sp>
        <p:nvSpPr>
          <p:cNvPr id="62" name="div.src"/>
          <p:cNvSpPr txBox="1"/>
          <p:nvPr/>
        </p:nvSpPr>
        <p:spPr>
          <a:xfrm>
            <a:off x="812800" y="6402006"/>
            <a:ext cx="6557328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6157"/>
                </a:solidFill>
                <a:latin typeface="Source Sans 3"/>
              </a:rPr>
              <a:t>Live testnet book, caravel-repo.pages.dev/app, 27 Oct 2026, no wallet. Depth = cumulative USDC. Who else: backtest scenarios S1–S4, untested.</a:t>
            </a:r>
            <a:endParaRPr sz="800"/>
          </a:p>
        </p:txBody>
      </p:sp>
      <p:pic>
        <p:nvPicPr>
          <p:cNvPr id="63" name="caravel-mark" descr="caravel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231" y="6324600"/>
            <a:ext cx="298549" cy="215900"/>
          </a:xfrm>
          <a:prstGeom prst="rect">
            <a:avLst/>
          </a:prstGeom>
        </p:spPr>
      </p:pic>
      <p:sp>
        <p:nvSpPr>
          <p:cNvPr id="64" name="div.pg"/>
          <p:cNvSpPr txBox="1"/>
          <p:nvPr/>
        </p:nvSpPr>
        <p:spPr>
          <a:xfrm>
            <a:off x="10899080" y="6365938"/>
            <a:ext cx="569329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157"/>
                </a:solidFill>
                <a:latin typeface="Source Code Pro"/>
              </a:rPr>
              <a:t>03 / 04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s4::before"/>
          <p:cNvSpPr/>
          <p:nvPr/>
        </p:nvSpPr>
        <p:spPr>
          <a:xfrm>
            <a:off x="203200" y="203200"/>
            <a:ext cx="11772900" cy="6438900"/>
          </a:xfrm>
          <a:prstGeom prst="rect">
            <a:avLst/>
          </a:prstGeom>
          <a:noFill/>
          <a:ln w="6350">
            <a:solidFill>
              <a:srgbClr val="E6DCCB"/>
            </a:solidFill>
          </a:ln>
          <a:effectLst/>
        </p:spPr>
      </p:sp>
      <p:sp>
        <p:nvSpPr>
          <p:cNvPr id="3" name="h1"/>
          <p:cNvSpPr txBox="1"/>
          <p:nvPr/>
        </p:nvSpPr>
        <p:spPr>
          <a:xfrm>
            <a:off x="812800" y="535876"/>
            <a:ext cx="1007999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36">
                <a:solidFill>
                  <a:srgbClr val="2B211D"/>
                </a:solidFill>
                <a:latin typeface="EB Garamond"/>
              </a:rPr>
              <a:t>Next few days: a pivot at every failure</a:t>
            </a:r>
            <a:endParaRPr sz="3600"/>
          </a:p>
        </p:txBody>
      </p:sp>
      <p:sp>
        <p:nvSpPr>
          <p:cNvPr id="4" name="div.cap"/>
          <p:cNvSpPr txBox="1"/>
          <p:nvPr/>
        </p:nvSpPr>
        <p:spPr>
          <a:xfrm>
            <a:off x="812800" y="1389444"/>
            <a:ext cx="371412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NOW</a:t>
            </a:r>
            <a:endParaRPr sz="950"/>
          </a:p>
        </p:txBody>
      </p:sp>
      <p:sp>
        <p:nvSpPr>
          <p:cNvPr id="5" name="div.cap"/>
          <p:cNvSpPr txBox="1"/>
          <p:nvPr/>
        </p:nvSpPr>
        <p:spPr>
          <a:xfrm>
            <a:off x="10414000" y="1389444"/>
            <a:ext cx="1111861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95">
                <a:solidFill>
                  <a:srgbClr val="7A6D60"/>
                </a:solidFill>
                <a:latin typeface="Source Sans 3"/>
              </a:rPr>
              <a:t>NEXT FEW DAYS</a:t>
            </a:r>
            <a:endParaRPr sz="950"/>
          </a:p>
        </p:txBody>
      </p:sp>
      <p:cxnSp>
        <p:nvCxnSpPr>
          <p:cNvPr id="6" name="wire"/>
          <p:cNvCxnSpPr/>
          <p:nvPr/>
        </p:nvCxnSpPr>
        <p:spPr>
          <a:xfrm>
            <a:off x="1244600" y="1485900"/>
            <a:ext cx="9055100" cy="0"/>
          </a:xfrm>
          <a:prstGeom prst="line">
            <a:avLst/>
          </a:prstGeom>
          <a:ln w="12700">
            <a:solidFill>
              <a:srgbClr val="C2AE93"/>
            </a:solidFill>
            <a:tailEnd type="triangle" w="med" len="med"/>
          </a:ln>
        </p:spPr>
      </p:cxnSp>
      <p:sp>
        <p:nvSpPr>
          <p:cNvPr id="7" name="div.box st"/>
          <p:cNvSpPr/>
          <p:nvPr/>
        </p:nvSpPr>
        <p:spPr>
          <a:xfrm>
            <a:off x="812800" y="2019300"/>
            <a:ext cx="1778000" cy="78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8" name="p.bt"/>
          <p:cNvSpPr txBox="1"/>
          <p:nvPr/>
        </p:nvSpPr>
        <p:spPr>
          <a:xfrm>
            <a:off x="819150" y="228847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Advice round</a:t>
            </a:r>
            <a:endParaRPr sz="1600"/>
          </a:p>
        </p:txBody>
      </p:sp>
      <p:sp>
        <p:nvSpPr>
          <p:cNvPr id="9" name="box st::after:borderRight"/>
          <p:cNvSpPr/>
          <p:nvPr/>
        </p:nvSpPr>
        <p:spPr>
          <a:xfrm>
            <a:off x="2616200" y="2063750"/>
            <a:ext cx="6350" cy="774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0" name="box st::after:borderBottom"/>
          <p:cNvSpPr/>
          <p:nvPr/>
        </p:nvSpPr>
        <p:spPr>
          <a:xfrm>
            <a:off x="857250" y="2832100"/>
            <a:ext cx="1765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1" name="div.box st"/>
          <p:cNvSpPr/>
          <p:nvPr/>
        </p:nvSpPr>
        <p:spPr>
          <a:xfrm>
            <a:off x="3009900" y="2019300"/>
            <a:ext cx="1778000" cy="78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12" name="p.bt"/>
          <p:cNvSpPr txBox="1"/>
          <p:nvPr/>
        </p:nvSpPr>
        <p:spPr>
          <a:xfrm>
            <a:off x="3016250" y="21805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Spiko whitelists</a:t>
            </a:r>
            <a:endParaRPr sz="1600"/>
          </a:p>
        </p:txBody>
      </p:sp>
      <p:sp>
        <p:nvSpPr>
          <p:cNvPr id="13" name="p.bt"/>
          <p:cNvSpPr txBox="1"/>
          <p:nvPr/>
        </p:nvSpPr>
        <p:spPr>
          <a:xfrm>
            <a:off x="3016250" y="2421954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contract</a:t>
            </a:r>
            <a:endParaRPr sz="1600"/>
          </a:p>
        </p:txBody>
      </p:sp>
      <p:sp>
        <p:nvSpPr>
          <p:cNvPr id="14" name="div.cf"/>
          <p:cNvSpPr/>
          <p:nvPr/>
        </p:nvSpPr>
        <p:spPr>
          <a:xfrm>
            <a:off x="4083050" y="1943100"/>
            <a:ext cx="671909" cy="152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15" name="div.cf"/>
          <p:cNvSpPr txBox="1"/>
          <p:nvPr/>
        </p:nvSpPr>
        <p:spPr>
          <a:xfrm>
            <a:off x="4127500" y="1939417"/>
            <a:ext cx="68045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5D0F"/>
                </a:solidFill>
                <a:highlight>
                  <a:srgbClr val="F6EDC9"/>
                </a:highlight>
                <a:latin typeface="Source Code Pro"/>
              </a:rPr>
              <a:t>[confirm]</a:t>
            </a:r>
            <a:endParaRPr sz="850"/>
          </a:p>
        </p:txBody>
      </p:sp>
      <p:sp>
        <p:nvSpPr>
          <p:cNvPr id="16" name="box st::after:borderRight"/>
          <p:cNvSpPr/>
          <p:nvPr/>
        </p:nvSpPr>
        <p:spPr>
          <a:xfrm>
            <a:off x="4813300" y="2063750"/>
            <a:ext cx="6350" cy="774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7" name="box st::after:borderBottom"/>
          <p:cNvSpPr/>
          <p:nvPr/>
        </p:nvSpPr>
        <p:spPr>
          <a:xfrm>
            <a:off x="3054350" y="2832100"/>
            <a:ext cx="1765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18" name="div.box st"/>
          <p:cNvSpPr/>
          <p:nvPr/>
        </p:nvSpPr>
        <p:spPr>
          <a:xfrm>
            <a:off x="5207000" y="2019300"/>
            <a:ext cx="1778000" cy="78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19" name="p.bt"/>
          <p:cNvSpPr txBox="1"/>
          <p:nvPr/>
        </p:nvSpPr>
        <p:spPr>
          <a:xfrm>
            <a:off x="5213350" y="21805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Liquidator</a:t>
            </a:r>
            <a:endParaRPr sz="1600"/>
          </a:p>
        </p:txBody>
      </p:sp>
      <p:sp>
        <p:nvSpPr>
          <p:cNvPr id="20" name="p.bt"/>
          <p:cNvSpPr txBox="1"/>
          <p:nvPr/>
        </p:nvSpPr>
        <p:spPr>
          <a:xfrm>
            <a:off x="5213350" y="2421954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signs on</a:t>
            </a:r>
            <a:endParaRPr sz="1600"/>
          </a:p>
        </p:txBody>
      </p:sp>
      <p:sp>
        <p:nvSpPr>
          <p:cNvPr id="21" name="div.cf"/>
          <p:cNvSpPr/>
          <p:nvPr/>
        </p:nvSpPr>
        <p:spPr>
          <a:xfrm>
            <a:off x="6280150" y="1943100"/>
            <a:ext cx="671909" cy="152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22" name="div.cf"/>
          <p:cNvSpPr txBox="1"/>
          <p:nvPr/>
        </p:nvSpPr>
        <p:spPr>
          <a:xfrm>
            <a:off x="6324600" y="1939417"/>
            <a:ext cx="68045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5D0F"/>
                </a:solidFill>
                <a:highlight>
                  <a:srgbClr val="F6EDC9"/>
                </a:highlight>
                <a:latin typeface="Source Code Pro"/>
              </a:rPr>
              <a:t>[confirm]</a:t>
            </a:r>
            <a:endParaRPr sz="850"/>
          </a:p>
        </p:txBody>
      </p:sp>
      <p:sp>
        <p:nvSpPr>
          <p:cNvPr id="23" name="box st::after:borderRight"/>
          <p:cNvSpPr/>
          <p:nvPr/>
        </p:nvSpPr>
        <p:spPr>
          <a:xfrm>
            <a:off x="7010400" y="2063750"/>
            <a:ext cx="6350" cy="774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4" name="box st::after:borderBottom"/>
          <p:cNvSpPr/>
          <p:nvPr/>
        </p:nvSpPr>
        <p:spPr>
          <a:xfrm>
            <a:off x="5251450" y="2832100"/>
            <a:ext cx="1765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25" name="div.box st"/>
          <p:cNvSpPr/>
          <p:nvPr/>
        </p:nvSpPr>
        <p:spPr>
          <a:xfrm>
            <a:off x="7404100" y="2019300"/>
            <a:ext cx="1778000" cy="78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2AE93"/>
            </a:solidFill>
          </a:ln>
          <a:effectLst/>
        </p:spPr>
      </p:sp>
      <p:sp>
        <p:nvSpPr>
          <p:cNvPr id="26" name="p.bt"/>
          <p:cNvSpPr txBox="1"/>
          <p:nvPr/>
        </p:nvSpPr>
        <p:spPr>
          <a:xfrm>
            <a:off x="7410450" y="21805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EURC lenders</a:t>
            </a:r>
            <a:endParaRPr sz="1600"/>
          </a:p>
        </p:txBody>
      </p:sp>
      <p:sp>
        <p:nvSpPr>
          <p:cNvPr id="27" name="p.bt"/>
          <p:cNvSpPr txBox="1"/>
          <p:nvPr/>
        </p:nvSpPr>
        <p:spPr>
          <a:xfrm>
            <a:off x="7410450" y="2421954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commit</a:t>
            </a:r>
            <a:endParaRPr sz="1600"/>
          </a:p>
        </p:txBody>
      </p:sp>
      <p:sp>
        <p:nvSpPr>
          <p:cNvPr id="28" name="div.cf"/>
          <p:cNvSpPr/>
          <p:nvPr/>
        </p:nvSpPr>
        <p:spPr>
          <a:xfrm>
            <a:off x="8477250" y="1943100"/>
            <a:ext cx="671909" cy="152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29" name="div.cf"/>
          <p:cNvSpPr txBox="1"/>
          <p:nvPr/>
        </p:nvSpPr>
        <p:spPr>
          <a:xfrm>
            <a:off x="8521700" y="1939417"/>
            <a:ext cx="68045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5D0F"/>
                </a:solidFill>
                <a:highlight>
                  <a:srgbClr val="F6EDC9"/>
                </a:highlight>
                <a:latin typeface="Source Code Pro"/>
              </a:rPr>
              <a:t>[confirm]</a:t>
            </a:r>
            <a:endParaRPr sz="850"/>
          </a:p>
        </p:txBody>
      </p:sp>
      <p:sp>
        <p:nvSpPr>
          <p:cNvPr id="30" name="box st::after:borderRight"/>
          <p:cNvSpPr/>
          <p:nvPr/>
        </p:nvSpPr>
        <p:spPr>
          <a:xfrm>
            <a:off x="9207500" y="2063750"/>
            <a:ext cx="6350" cy="77470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1" name="box st::after:borderBottom"/>
          <p:cNvSpPr/>
          <p:nvPr/>
        </p:nvSpPr>
        <p:spPr>
          <a:xfrm>
            <a:off x="7448550" y="2832100"/>
            <a:ext cx="1765300" cy="6350"/>
          </a:xfrm>
          <a:prstGeom prst="rect">
            <a:avLst/>
          </a:prstGeom>
          <a:solidFill>
            <a:srgbClr val="C2AE93"/>
          </a:solidFill>
          <a:ln>
            <a:noFill/>
          </a:ln>
          <a:effectLst/>
        </p:spPr>
      </p:sp>
      <p:sp>
        <p:nvSpPr>
          <p:cNvPr id="32" name="div.box st gold"/>
          <p:cNvSpPr/>
          <p:nvPr/>
        </p:nvSpPr>
        <p:spPr>
          <a:xfrm>
            <a:off x="9601200" y="2019300"/>
            <a:ext cx="1778000" cy="787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33" name="p.bt"/>
          <p:cNvSpPr txBox="1"/>
          <p:nvPr/>
        </p:nvSpPr>
        <p:spPr>
          <a:xfrm>
            <a:off x="9607550" y="21805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First mainnet</a:t>
            </a:r>
            <a:endParaRPr sz="1600"/>
          </a:p>
        </p:txBody>
      </p:sp>
      <p:sp>
        <p:nvSpPr>
          <p:cNvPr id="34" name="p.bt"/>
          <p:cNvSpPr txBox="1"/>
          <p:nvPr/>
        </p:nvSpPr>
        <p:spPr>
          <a:xfrm>
            <a:off x="9607550" y="2421954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loan</a:t>
            </a:r>
            <a:endParaRPr sz="1600"/>
          </a:p>
        </p:txBody>
      </p:sp>
      <p:sp>
        <p:nvSpPr>
          <p:cNvPr id="35" name="div.cf"/>
          <p:cNvSpPr/>
          <p:nvPr/>
        </p:nvSpPr>
        <p:spPr>
          <a:xfrm>
            <a:off x="10674350" y="1943100"/>
            <a:ext cx="671909" cy="152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36" name="div.cf"/>
          <p:cNvSpPr txBox="1"/>
          <p:nvPr/>
        </p:nvSpPr>
        <p:spPr>
          <a:xfrm>
            <a:off x="10718800" y="1939417"/>
            <a:ext cx="68045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5D0F"/>
                </a:solidFill>
                <a:highlight>
                  <a:srgbClr val="F6EDC9"/>
                </a:highlight>
                <a:latin typeface="Source Code Pro"/>
              </a:rPr>
              <a:t>[confirm]</a:t>
            </a:r>
            <a:endParaRPr sz="850"/>
          </a:p>
        </p:txBody>
      </p:sp>
      <p:sp>
        <p:nvSpPr>
          <p:cNvPr id="37" name="box st gold::after:borderRight"/>
          <p:cNvSpPr/>
          <p:nvPr/>
        </p:nvSpPr>
        <p:spPr>
          <a:xfrm>
            <a:off x="11404600" y="2063750"/>
            <a:ext cx="6350" cy="77470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sp>
        <p:nvSpPr>
          <p:cNvPr id="38" name="box st gold::after:borderBottom"/>
          <p:cNvSpPr/>
          <p:nvPr/>
        </p:nvSpPr>
        <p:spPr>
          <a:xfrm>
            <a:off x="9645650" y="2832100"/>
            <a:ext cx="1765300" cy="6350"/>
          </a:xfrm>
          <a:prstGeom prst="rect">
            <a:avLst/>
          </a:prstGeom>
          <a:solidFill>
            <a:srgbClr val="D6B43E"/>
          </a:solidFill>
          <a:ln>
            <a:noFill/>
          </a:ln>
          <a:effectLst/>
        </p:spPr>
      </p:sp>
      <p:cxnSp>
        <p:nvCxnSpPr>
          <p:cNvPr id="39" name="wire"/>
          <p:cNvCxnSpPr/>
          <p:nvPr/>
        </p:nvCxnSpPr>
        <p:spPr>
          <a:xfrm>
            <a:off x="2641600" y="2413000"/>
            <a:ext cx="368300" cy="0"/>
          </a:xfrm>
          <a:prstGeom prst="line">
            <a:avLst/>
          </a:prstGeom>
          <a:ln w="15875">
            <a:solidFill>
              <a:srgbClr val="9C8A70"/>
            </a:solidFill>
            <a:tailEnd type="triangle" w="med" len="med"/>
          </a:ln>
        </p:spPr>
      </p:cxnSp>
      <p:cxnSp>
        <p:nvCxnSpPr>
          <p:cNvPr id="40" name="wire"/>
          <p:cNvCxnSpPr/>
          <p:nvPr/>
        </p:nvCxnSpPr>
        <p:spPr>
          <a:xfrm>
            <a:off x="4838700" y="2413000"/>
            <a:ext cx="368300" cy="0"/>
          </a:xfrm>
          <a:prstGeom prst="line">
            <a:avLst/>
          </a:prstGeom>
          <a:ln w="15875">
            <a:solidFill>
              <a:srgbClr val="9C8A70"/>
            </a:solidFill>
            <a:tailEnd type="triangle" w="med" len="med"/>
          </a:ln>
        </p:spPr>
      </p:cxnSp>
      <p:cxnSp>
        <p:nvCxnSpPr>
          <p:cNvPr id="41" name="wire"/>
          <p:cNvCxnSpPr/>
          <p:nvPr/>
        </p:nvCxnSpPr>
        <p:spPr>
          <a:xfrm>
            <a:off x="7035800" y="2413000"/>
            <a:ext cx="368300" cy="0"/>
          </a:xfrm>
          <a:prstGeom prst="line">
            <a:avLst/>
          </a:prstGeom>
          <a:ln w="15875">
            <a:solidFill>
              <a:srgbClr val="9C8A70"/>
            </a:solidFill>
            <a:tailEnd type="triangle" w="med" len="med"/>
          </a:ln>
        </p:spPr>
      </p:cxnSp>
      <p:cxnSp>
        <p:nvCxnSpPr>
          <p:cNvPr id="42" name="wire"/>
          <p:cNvCxnSpPr/>
          <p:nvPr/>
        </p:nvCxnSpPr>
        <p:spPr>
          <a:xfrm>
            <a:off x="9232900" y="2413000"/>
            <a:ext cx="368300" cy="0"/>
          </a:xfrm>
          <a:prstGeom prst="line">
            <a:avLst/>
          </a:prstGeom>
          <a:ln w="15875">
            <a:solidFill>
              <a:srgbClr val="9C8A70"/>
            </a:solidFill>
            <a:tailEnd type="triangle" w="med" len="med"/>
          </a:ln>
        </p:spPr>
      </p:cxnSp>
      <p:cxnSp>
        <p:nvCxnSpPr>
          <p:cNvPr id="43" name="wire"/>
          <p:cNvCxnSpPr/>
          <p:nvPr/>
        </p:nvCxnSpPr>
        <p:spPr>
          <a:xfrm>
            <a:off x="1701800" y="2857500"/>
            <a:ext cx="0" cy="977900"/>
          </a:xfrm>
          <a:prstGeom prst="line">
            <a:avLst/>
          </a:prstGeom>
          <a:ln w="15875">
            <a:solidFill>
              <a:srgbClr val="793327"/>
            </a:solidFill>
            <a:prstDash val="dash"/>
            <a:tailEnd type="triangle" w="med" len="med"/>
          </a:ln>
        </p:spPr>
      </p:cxnSp>
      <p:sp>
        <p:nvSpPr>
          <p:cNvPr id="44" name="div.no"/>
          <p:cNvSpPr txBox="1"/>
          <p:nvPr/>
        </p:nvSpPr>
        <p:spPr>
          <a:xfrm>
            <a:off x="1803400" y="3253930"/>
            <a:ext cx="628372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8">
                <a:solidFill>
                  <a:srgbClr val="793327"/>
                </a:solidFill>
                <a:latin typeface="Source Sans 3"/>
              </a:rPr>
              <a:t>NO GAP</a:t>
            </a:r>
            <a:endParaRPr sz="1100"/>
          </a:p>
        </p:txBody>
      </p:sp>
      <p:cxnSp>
        <p:nvCxnSpPr>
          <p:cNvPr id="45" name="wire"/>
          <p:cNvCxnSpPr/>
          <p:nvPr/>
        </p:nvCxnSpPr>
        <p:spPr>
          <a:xfrm>
            <a:off x="3898900" y="2857500"/>
            <a:ext cx="0" cy="977900"/>
          </a:xfrm>
          <a:prstGeom prst="line">
            <a:avLst/>
          </a:prstGeom>
          <a:ln w="15875">
            <a:solidFill>
              <a:srgbClr val="793327"/>
            </a:solidFill>
            <a:prstDash val="dash"/>
            <a:tailEnd type="triangle" w="med" len="med"/>
          </a:ln>
        </p:spPr>
      </p:cxnSp>
      <p:sp>
        <p:nvSpPr>
          <p:cNvPr id="46" name="div.no"/>
          <p:cNvSpPr txBox="1"/>
          <p:nvPr/>
        </p:nvSpPr>
        <p:spPr>
          <a:xfrm>
            <a:off x="4000500" y="3253930"/>
            <a:ext cx="278507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8">
                <a:solidFill>
                  <a:srgbClr val="793327"/>
                </a:solidFill>
                <a:latin typeface="Source Sans 3"/>
              </a:rPr>
              <a:t>NO</a:t>
            </a:r>
            <a:endParaRPr sz="1100"/>
          </a:p>
        </p:txBody>
      </p:sp>
      <p:cxnSp>
        <p:nvCxnSpPr>
          <p:cNvPr id="47" name="wire"/>
          <p:cNvCxnSpPr/>
          <p:nvPr/>
        </p:nvCxnSpPr>
        <p:spPr>
          <a:xfrm>
            <a:off x="6096000" y="2857500"/>
            <a:ext cx="0" cy="977900"/>
          </a:xfrm>
          <a:prstGeom prst="line">
            <a:avLst/>
          </a:prstGeom>
          <a:ln w="15875">
            <a:solidFill>
              <a:srgbClr val="793327"/>
            </a:solidFill>
            <a:prstDash val="dash"/>
            <a:tailEnd type="triangle" w="med" len="med"/>
          </a:ln>
        </p:spPr>
      </p:cxnSp>
      <p:sp>
        <p:nvSpPr>
          <p:cNvPr id="48" name="div.no"/>
          <p:cNvSpPr txBox="1"/>
          <p:nvPr/>
        </p:nvSpPr>
        <p:spPr>
          <a:xfrm>
            <a:off x="6197600" y="3253930"/>
            <a:ext cx="278507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8">
                <a:solidFill>
                  <a:srgbClr val="793327"/>
                </a:solidFill>
                <a:latin typeface="Source Sans 3"/>
              </a:rPr>
              <a:t>NO</a:t>
            </a:r>
            <a:endParaRPr sz="1100"/>
          </a:p>
        </p:txBody>
      </p:sp>
      <p:cxnSp>
        <p:nvCxnSpPr>
          <p:cNvPr id="49" name="wire"/>
          <p:cNvCxnSpPr/>
          <p:nvPr/>
        </p:nvCxnSpPr>
        <p:spPr>
          <a:xfrm>
            <a:off x="8293100" y="2857500"/>
            <a:ext cx="0" cy="977900"/>
          </a:xfrm>
          <a:prstGeom prst="line">
            <a:avLst/>
          </a:prstGeom>
          <a:ln w="15875">
            <a:solidFill>
              <a:srgbClr val="793327"/>
            </a:solidFill>
            <a:prstDash val="dash"/>
            <a:tailEnd type="triangle" w="med" len="med"/>
          </a:ln>
        </p:spPr>
      </p:cxnSp>
      <p:sp>
        <p:nvSpPr>
          <p:cNvPr id="50" name="div.no"/>
          <p:cNvSpPr txBox="1"/>
          <p:nvPr/>
        </p:nvSpPr>
        <p:spPr>
          <a:xfrm>
            <a:off x="8394700" y="3253930"/>
            <a:ext cx="278507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8">
                <a:solidFill>
                  <a:srgbClr val="793327"/>
                </a:solidFill>
                <a:latin typeface="Source Sans 3"/>
              </a:rPr>
              <a:t>NO</a:t>
            </a:r>
            <a:endParaRPr sz="1100"/>
          </a:p>
        </p:txBody>
      </p:sp>
      <p:sp>
        <p:nvSpPr>
          <p:cNvPr id="51" name="div.box st piv"/>
          <p:cNvSpPr/>
          <p:nvPr/>
        </p:nvSpPr>
        <p:spPr>
          <a:xfrm>
            <a:off x="812800" y="3835400"/>
            <a:ext cx="1778000" cy="787400"/>
          </a:xfrm>
          <a:prstGeom prst="rect">
            <a:avLst/>
          </a:prstGeom>
          <a:solidFill>
            <a:srgbClr val="F3E3DF"/>
          </a:solidFill>
          <a:ln w="6350">
            <a:solidFill>
              <a:srgbClr val="793327"/>
            </a:solidFill>
          </a:ln>
          <a:effectLst/>
        </p:spPr>
      </p:sp>
      <p:sp>
        <p:nvSpPr>
          <p:cNvPr id="52" name="p.bt"/>
          <p:cNvSpPr txBox="1"/>
          <p:nvPr/>
        </p:nvSpPr>
        <p:spPr>
          <a:xfrm>
            <a:off x="819150" y="3996563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Rethink</a:t>
            </a:r>
            <a:endParaRPr sz="1600"/>
          </a:p>
        </p:txBody>
      </p:sp>
      <p:sp>
        <p:nvSpPr>
          <p:cNvPr id="53" name="p.bt"/>
          <p:cNvSpPr txBox="1"/>
          <p:nvPr/>
        </p:nvSpPr>
        <p:spPr>
          <a:xfrm>
            <a:off x="819150" y="42379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use case</a:t>
            </a:r>
            <a:endParaRPr sz="1600"/>
          </a:p>
        </p:txBody>
      </p:sp>
      <p:sp>
        <p:nvSpPr>
          <p:cNvPr id="54" name="div.cf"/>
          <p:cNvSpPr/>
          <p:nvPr/>
        </p:nvSpPr>
        <p:spPr>
          <a:xfrm>
            <a:off x="1885950" y="3759200"/>
            <a:ext cx="671909" cy="152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55" name="div.cf"/>
          <p:cNvSpPr txBox="1"/>
          <p:nvPr/>
        </p:nvSpPr>
        <p:spPr>
          <a:xfrm>
            <a:off x="1930400" y="3755390"/>
            <a:ext cx="68045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5D0F"/>
                </a:solidFill>
                <a:highlight>
                  <a:srgbClr val="F6EDC9"/>
                </a:highlight>
                <a:latin typeface="Source Code Pro"/>
              </a:rPr>
              <a:t>[confirm]</a:t>
            </a:r>
            <a:endParaRPr sz="850"/>
          </a:p>
        </p:txBody>
      </p:sp>
      <p:sp>
        <p:nvSpPr>
          <p:cNvPr id="56" name="box st piv::after:borderRight"/>
          <p:cNvSpPr/>
          <p:nvPr/>
        </p:nvSpPr>
        <p:spPr>
          <a:xfrm>
            <a:off x="2616200" y="3879850"/>
            <a:ext cx="6350" cy="7747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57" name="box st piv::after:borderBottom"/>
          <p:cNvSpPr/>
          <p:nvPr/>
        </p:nvSpPr>
        <p:spPr>
          <a:xfrm>
            <a:off x="857250" y="4648200"/>
            <a:ext cx="1765300" cy="635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58" name="div.box st piv"/>
          <p:cNvSpPr/>
          <p:nvPr/>
        </p:nvSpPr>
        <p:spPr>
          <a:xfrm>
            <a:off x="3009900" y="3835400"/>
            <a:ext cx="1778000" cy="787400"/>
          </a:xfrm>
          <a:prstGeom prst="rect">
            <a:avLst/>
          </a:prstGeom>
          <a:solidFill>
            <a:srgbClr val="F3E3DF"/>
          </a:solidFill>
          <a:ln w="6350">
            <a:solidFill>
              <a:srgbClr val="793327"/>
            </a:solidFill>
          </a:ln>
          <a:effectLst/>
        </p:spPr>
      </p:sp>
      <p:sp>
        <p:nvSpPr>
          <p:cNvPr id="59" name="p.bt"/>
          <p:cNvSpPr txBox="1"/>
          <p:nvPr/>
        </p:nvSpPr>
        <p:spPr>
          <a:xfrm>
            <a:off x="3016250" y="3996563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Different</a:t>
            </a:r>
            <a:endParaRPr sz="1600"/>
          </a:p>
        </p:txBody>
      </p:sp>
      <p:sp>
        <p:nvSpPr>
          <p:cNvPr id="60" name="p.bt"/>
          <p:cNvSpPr txBox="1"/>
          <p:nvPr/>
        </p:nvSpPr>
        <p:spPr>
          <a:xfrm>
            <a:off x="3016250" y="42379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asset</a:t>
            </a:r>
            <a:endParaRPr sz="1600"/>
          </a:p>
        </p:txBody>
      </p:sp>
      <p:sp>
        <p:nvSpPr>
          <p:cNvPr id="61" name="box st piv::after:borderRight"/>
          <p:cNvSpPr/>
          <p:nvPr/>
        </p:nvSpPr>
        <p:spPr>
          <a:xfrm>
            <a:off x="4813300" y="3879850"/>
            <a:ext cx="6350" cy="7747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62" name="box st piv::after:borderBottom"/>
          <p:cNvSpPr/>
          <p:nvPr/>
        </p:nvSpPr>
        <p:spPr>
          <a:xfrm>
            <a:off x="3054350" y="4648200"/>
            <a:ext cx="1765300" cy="635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63" name="div.box st piv"/>
          <p:cNvSpPr/>
          <p:nvPr/>
        </p:nvSpPr>
        <p:spPr>
          <a:xfrm>
            <a:off x="5207000" y="3835400"/>
            <a:ext cx="1778000" cy="787400"/>
          </a:xfrm>
          <a:prstGeom prst="rect">
            <a:avLst/>
          </a:prstGeom>
          <a:solidFill>
            <a:srgbClr val="F3E3DF"/>
          </a:solidFill>
          <a:ln w="6350">
            <a:solidFill>
              <a:srgbClr val="793327"/>
            </a:solidFill>
          </a:ln>
          <a:effectLst/>
        </p:spPr>
      </p:sp>
      <p:sp>
        <p:nvSpPr>
          <p:cNvPr id="64" name="p.bt"/>
          <p:cNvSpPr txBox="1"/>
          <p:nvPr/>
        </p:nvSpPr>
        <p:spPr>
          <a:xfrm>
            <a:off x="5213350" y="3996563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Spiko</a:t>
            </a:r>
            <a:endParaRPr sz="1600"/>
          </a:p>
        </p:txBody>
      </p:sp>
      <p:sp>
        <p:nvSpPr>
          <p:cNvPr id="65" name="p.bt"/>
          <p:cNvSpPr txBox="1"/>
          <p:nvPr/>
        </p:nvSpPr>
        <p:spPr>
          <a:xfrm>
            <a:off x="5213350" y="42379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liquidates</a:t>
            </a:r>
            <a:endParaRPr sz="1600"/>
          </a:p>
        </p:txBody>
      </p:sp>
      <p:sp>
        <p:nvSpPr>
          <p:cNvPr id="66" name="box st piv::after:borderRight"/>
          <p:cNvSpPr/>
          <p:nvPr/>
        </p:nvSpPr>
        <p:spPr>
          <a:xfrm>
            <a:off x="7010400" y="3879850"/>
            <a:ext cx="6350" cy="7747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67" name="box st piv::after:borderBottom"/>
          <p:cNvSpPr/>
          <p:nvPr/>
        </p:nvSpPr>
        <p:spPr>
          <a:xfrm>
            <a:off x="5251450" y="4648200"/>
            <a:ext cx="1765300" cy="635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68" name="div.box st piv"/>
          <p:cNvSpPr/>
          <p:nvPr/>
        </p:nvSpPr>
        <p:spPr>
          <a:xfrm>
            <a:off x="7404100" y="3835400"/>
            <a:ext cx="1778000" cy="787400"/>
          </a:xfrm>
          <a:prstGeom prst="rect">
            <a:avLst/>
          </a:prstGeom>
          <a:solidFill>
            <a:srgbClr val="F3E3DF"/>
          </a:solidFill>
          <a:ln w="6350">
            <a:solidFill>
              <a:srgbClr val="793327"/>
            </a:solidFill>
          </a:ln>
          <a:effectLst/>
        </p:spPr>
      </p:sp>
      <p:sp>
        <p:nvSpPr>
          <p:cNvPr id="69" name="p.bt"/>
          <p:cNvSpPr txBox="1"/>
          <p:nvPr/>
        </p:nvSpPr>
        <p:spPr>
          <a:xfrm>
            <a:off x="7410450" y="3996563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Subsidised</a:t>
            </a:r>
            <a:endParaRPr sz="1600"/>
          </a:p>
        </p:txBody>
      </p:sp>
      <p:sp>
        <p:nvSpPr>
          <p:cNvPr id="70" name="p.bt"/>
          <p:cNvSpPr txBox="1"/>
          <p:nvPr/>
        </p:nvSpPr>
        <p:spPr>
          <a:xfrm>
            <a:off x="7410450" y="4237926"/>
            <a:ext cx="1765300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11D"/>
                </a:solidFill>
                <a:latin typeface="EB Garamond"/>
              </a:rPr>
              <a:t>USD carry</a:t>
            </a:r>
            <a:endParaRPr sz="1600"/>
          </a:p>
        </p:txBody>
      </p:sp>
      <p:sp>
        <p:nvSpPr>
          <p:cNvPr id="71" name="div.cf"/>
          <p:cNvSpPr/>
          <p:nvPr/>
        </p:nvSpPr>
        <p:spPr>
          <a:xfrm>
            <a:off x="8477250" y="3759200"/>
            <a:ext cx="671909" cy="152400"/>
          </a:xfrm>
          <a:prstGeom prst="rect">
            <a:avLst/>
          </a:prstGeom>
          <a:solidFill>
            <a:srgbClr val="F6EDC9"/>
          </a:solidFill>
          <a:ln w="6350">
            <a:solidFill>
              <a:srgbClr val="D6B43E"/>
            </a:solidFill>
          </a:ln>
          <a:effectLst/>
        </p:spPr>
      </p:sp>
      <p:sp>
        <p:nvSpPr>
          <p:cNvPr id="72" name="div.cf"/>
          <p:cNvSpPr txBox="1"/>
          <p:nvPr/>
        </p:nvSpPr>
        <p:spPr>
          <a:xfrm>
            <a:off x="8521700" y="3755390"/>
            <a:ext cx="68045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5D0F"/>
                </a:solidFill>
                <a:highlight>
                  <a:srgbClr val="F6EDC9"/>
                </a:highlight>
                <a:latin typeface="Source Code Pro"/>
              </a:rPr>
              <a:t>[confirm]</a:t>
            </a:r>
            <a:endParaRPr sz="850"/>
          </a:p>
        </p:txBody>
      </p:sp>
      <p:sp>
        <p:nvSpPr>
          <p:cNvPr id="73" name="box st piv::after:borderRight"/>
          <p:cNvSpPr/>
          <p:nvPr/>
        </p:nvSpPr>
        <p:spPr>
          <a:xfrm>
            <a:off x="9207500" y="3879850"/>
            <a:ext cx="6350" cy="77470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74" name="box st piv::after:borderBottom"/>
          <p:cNvSpPr/>
          <p:nvPr/>
        </p:nvSpPr>
        <p:spPr>
          <a:xfrm>
            <a:off x="7448550" y="4648200"/>
            <a:ext cx="1765300" cy="6350"/>
          </a:xfrm>
          <a:prstGeom prst="rect">
            <a:avLst/>
          </a:prstGeom>
          <a:solidFill>
            <a:srgbClr val="793327"/>
          </a:solidFill>
          <a:ln>
            <a:noFill/>
          </a:ln>
          <a:effectLst/>
        </p:spPr>
      </p:sp>
      <p:sp>
        <p:nvSpPr>
          <p:cNvPr id="75" name="div.q"/>
          <p:cNvSpPr/>
          <p:nvPr/>
        </p:nvSpPr>
        <p:spPr>
          <a:xfrm>
            <a:off x="812800" y="5308600"/>
            <a:ext cx="10566400" cy="609600"/>
          </a:xfrm>
          <a:prstGeom prst="rect">
            <a:avLst/>
          </a:prstGeom>
          <a:solidFill>
            <a:srgbClr val="F6EDC9"/>
          </a:solidFill>
          <a:ln w="12700">
            <a:solidFill>
              <a:srgbClr val="7A6418"/>
            </a:solidFill>
          </a:ln>
          <a:effectLst/>
        </p:spPr>
      </p:sp>
      <p:sp>
        <p:nvSpPr>
          <p:cNvPr id="76" name="div.t"/>
          <p:cNvSpPr txBox="1"/>
          <p:nvPr/>
        </p:nvSpPr>
        <p:spPr>
          <a:xfrm>
            <a:off x="1079500" y="5450840"/>
            <a:ext cx="4871974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11D"/>
                </a:solidFill>
                <a:latin typeface="EB Garamond"/>
              </a:rPr>
              <a:t>Which step fails first? Is that the right pivot?</a:t>
            </a:r>
            <a:endParaRPr sz="2100"/>
          </a:p>
        </p:txBody>
      </p:sp>
      <p:sp>
        <p:nvSpPr>
          <p:cNvPr id="77" name="div.src"/>
          <p:cNvSpPr txBox="1"/>
          <p:nvPr/>
        </p:nvSpPr>
        <p:spPr>
          <a:xfrm>
            <a:off x="812800" y="6402006"/>
            <a:ext cx="579609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6157"/>
                </a:solidFill>
                <a:latin typeface="Source Sans 3"/>
              </a:rPr>
              <a:t>Sources: brief (MB, 27 Oct); kyc-assets report; backtest report; Caravel TASKS.md. [confirm] = drafted, not yet confirmed by MB.</a:t>
            </a:r>
            <a:endParaRPr sz="800"/>
          </a:p>
        </p:txBody>
      </p:sp>
      <p:pic>
        <p:nvPicPr>
          <p:cNvPr id="78" name="caravel-mark" descr="caravel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231" y="6324600"/>
            <a:ext cx="298549" cy="215900"/>
          </a:xfrm>
          <a:prstGeom prst="rect">
            <a:avLst/>
          </a:prstGeom>
        </p:spPr>
      </p:pic>
      <p:sp>
        <p:nvSpPr>
          <p:cNvPr id="79" name="div.pg"/>
          <p:cNvSpPr txBox="1"/>
          <p:nvPr/>
        </p:nvSpPr>
        <p:spPr>
          <a:xfrm>
            <a:off x="10899080" y="6365938"/>
            <a:ext cx="569329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157"/>
                </a:solidFill>
                <a:latin typeface="Source Code Pro"/>
              </a:rPr>
              <a:t>04 / 04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